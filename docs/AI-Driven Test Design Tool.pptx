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6.svg" ContentType="image/svg+xml"/>
  <Override PartName="/ppt/media/image19.svg" ContentType="image/svg+xml"/>
  <Override PartName="/ppt/media/image21.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25"/>
  </p:handoutMasterIdLst>
  <p:sldIdLst>
    <p:sldId id="553" r:id="rId3"/>
    <p:sldId id="561" r:id="rId5"/>
    <p:sldId id="558" r:id="rId6"/>
    <p:sldId id="576" r:id="rId7"/>
    <p:sldId id="567" r:id="rId8"/>
    <p:sldId id="577" r:id="rId9"/>
    <p:sldId id="578" r:id="rId10"/>
    <p:sldId id="579" r:id="rId11"/>
    <p:sldId id="580" r:id="rId12"/>
    <p:sldId id="581" r:id="rId13"/>
    <p:sldId id="585" r:id="rId14"/>
    <p:sldId id="586" r:id="rId15"/>
    <p:sldId id="587" r:id="rId16"/>
    <p:sldId id="588" r:id="rId17"/>
    <p:sldId id="583" r:id="rId18"/>
    <p:sldId id="591" r:id="rId19"/>
    <p:sldId id="592" r:id="rId20"/>
    <p:sldId id="593" r:id="rId21"/>
    <p:sldId id="596" r:id="rId22"/>
    <p:sldId id="597" r:id="rId23"/>
    <p:sldId id="563" r:id="rId24"/>
  </p:sldIdLst>
  <p:sldSz cx="12192000" cy="6858000"/>
  <p:notesSz cx="6858000" cy="9144000"/>
  <p:embeddedFontLst/>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7" userDrawn="1">
          <p15:clr>
            <a:srgbClr val="A4A3A4"/>
          </p15:clr>
        </p15:guide>
        <p15:guide id="2" pos="37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46749"/>
    <a:srgbClr val="FFFFFF"/>
    <a:srgbClr val="A9E2FD"/>
    <a:srgbClr val="74AFCB"/>
    <a:srgbClr val="156389"/>
    <a:srgbClr val="0F1D1A"/>
    <a:srgbClr val="D36B0B"/>
    <a:srgbClr val="DCDCDC"/>
    <a:srgbClr val="F0F0F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67"/>
        <p:guide pos="376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40.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HarmonyOS Sans SC Medium" panose="00000600000000000000" charset="-122"/>
              <a:ea typeface="HarmonyOS Sans SC Medium" panose="00000600000000000000" charset="-122"/>
              <a:cs typeface="Arial" panose="020B0604020202090204" pitchFamily="3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HarmonyOS Sans SC Medium" panose="00000600000000000000" charset="-122"/>
              </a:rPr>
            </a:fld>
            <a:endParaRPr lang="zh-CN" altLang="en-US">
              <a:latin typeface="HarmonyOS Sans SC Medium" panose="000006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HarmonyOS Sans SC Medium" panose="00000600000000000000" charset="-122"/>
              <a:ea typeface="HarmonyOS Sans SC Medium" panose="00000600000000000000" charset="-122"/>
              <a:cs typeface="Arial" panose="020B0604020202090204" pitchFamily="3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HarmonyOS Sans SC Medium" panose="00000600000000000000" charset="-122"/>
              </a:rPr>
            </a:fld>
            <a:endParaRPr lang="zh-CN" altLang="en-US">
              <a:latin typeface="HarmonyOS Sans SC Medium" panose="000006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HarmonyOS Sans SC Medium" panose="00000600000000000000" charset="-122"/>
                <a:ea typeface="HarmonyOS Sans SC Medium" panose="00000600000000000000" charset="-122"/>
                <a:cs typeface="Arial" panose="020B0604020202090204" pitchFamily="3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HarmonyOS Sans SC Medium" panose="00000600000000000000" charset="-122"/>
                <a:ea typeface="HarmonyOS Sans SC Medium" panose="00000600000000000000" charset="-122"/>
                <a:cs typeface="Arial" panose="020B0604020202090204" pitchFamily="34" charset="0"/>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HarmonyOS Sans SC Medium" panose="00000600000000000000" charset="-122"/>
                <a:ea typeface="HarmonyOS Sans SC Medium" panose="00000600000000000000" charset="-122"/>
                <a:cs typeface="Arial" panose="020B0604020202090204" pitchFamily="3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HarmonyOS Sans SC Medium" panose="00000600000000000000" charset="-122"/>
                <a:ea typeface="HarmonyOS Sans SC Medium" panose="00000600000000000000" charset="-122"/>
                <a:cs typeface="Arial" panose="020B0604020202090204" pitchFamily="34" charset="0"/>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armonyOS Sans SC Medium" panose="00000600000000000000" charset="-122"/>
        <a:ea typeface="HarmonyOS Sans SC Medium" panose="00000600000000000000" charset="-122"/>
        <a:cs typeface="Arial" panose="020B0604020202090204" pitchFamily="34" charset="0"/>
      </a:defRPr>
    </a:lvl1pPr>
    <a:lvl2pPr marL="457200" algn="l" defTabSz="914400" rtl="0" eaLnBrk="1" latinLnBrk="0" hangingPunct="1">
      <a:defRPr sz="1200" kern="1200">
        <a:solidFill>
          <a:schemeClr val="tx1"/>
        </a:solidFill>
        <a:latin typeface="HarmonyOS Sans SC Medium" panose="00000600000000000000" charset="-122"/>
        <a:ea typeface="HarmonyOS Sans SC Medium" panose="00000600000000000000" charset="-122"/>
        <a:cs typeface="Arial" panose="020B0604020202090204" pitchFamily="34" charset="0"/>
      </a:defRPr>
    </a:lvl2pPr>
    <a:lvl3pPr marL="914400" algn="l" defTabSz="914400" rtl="0" eaLnBrk="1" latinLnBrk="0" hangingPunct="1">
      <a:defRPr sz="1200" kern="1200">
        <a:solidFill>
          <a:schemeClr val="tx1"/>
        </a:solidFill>
        <a:latin typeface="HarmonyOS Sans SC Medium" panose="00000600000000000000" charset="-122"/>
        <a:ea typeface="HarmonyOS Sans SC Medium" panose="00000600000000000000" charset="-122"/>
        <a:cs typeface="Arial" panose="020B0604020202090204" pitchFamily="34" charset="0"/>
      </a:defRPr>
    </a:lvl3pPr>
    <a:lvl4pPr marL="1371600" algn="l" defTabSz="914400" rtl="0" eaLnBrk="1" latinLnBrk="0" hangingPunct="1">
      <a:defRPr sz="1200" kern="1200">
        <a:solidFill>
          <a:schemeClr val="tx1"/>
        </a:solidFill>
        <a:latin typeface="HarmonyOS Sans SC Medium" panose="00000600000000000000" charset="-122"/>
        <a:ea typeface="HarmonyOS Sans SC Medium" panose="00000600000000000000" charset="-122"/>
        <a:cs typeface="Arial" panose="020B0604020202090204" pitchFamily="34" charset="0"/>
      </a:defRPr>
    </a:lvl4pPr>
    <a:lvl5pPr marL="1828800" algn="l" defTabSz="914400" rtl="0" eaLnBrk="1" latinLnBrk="0" hangingPunct="1">
      <a:defRPr sz="1200" kern="1200">
        <a:solidFill>
          <a:schemeClr val="tx1"/>
        </a:solidFill>
        <a:latin typeface="HarmonyOS Sans SC Medium" panose="00000600000000000000" charset="-122"/>
        <a:ea typeface="HarmonyOS Sans SC Medium" panose="00000600000000000000" charset="-122"/>
        <a:cs typeface="Arial" panose="020B060402020209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lvl1pPr>
              <a:defRPr>
                <a:cs typeface="Arial" panose="020B0604020202090204" pitchFamily="34" charset="0"/>
              </a:defRPr>
            </a:lvl1p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lvl1pPr>
              <a:defRPr>
                <a:cs typeface="Arial" panose="020B0604020202090204" pitchFamily="34" charset="0"/>
              </a:defRPr>
            </a:lvl1p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lvl1pPr>
              <a:defRPr>
                <a:cs typeface="Arial" panose="020B0604020202090204" pitchFamily="34" charset="0"/>
              </a:defRPr>
            </a:lvl1p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lvl1pPr>
              <a:defRPr>
                <a:cs typeface="Arial" panose="020B0604020202090204" pitchFamily="34" charset="0"/>
              </a:defRPr>
            </a:lvl1pPr>
          </a:lstStyle>
          <a:p>
            <a:fld id="{E077DA78-E013-4A8C-AD75-63A150561B1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lvl1pPr>
              <a:defRPr>
                <a:cs typeface="Arial" panose="020B0604020202090204" pitchFamily="34" charset="0"/>
              </a:defRPr>
            </a:lvl1p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lvl1pPr>
              <a:defRPr>
                <a:cs typeface="Arial" panose="020B0604020202090204" pitchFamily="34" charset="0"/>
              </a:defRPr>
            </a:lvl1p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lvl1pPr>
              <a:defRPr>
                <a:cs typeface="Arial" panose="020B0604020202090204" pitchFamily="34" charset="0"/>
              </a:defRPr>
            </a:lvl1p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lvl1pPr>
              <a:defRPr>
                <a:cs typeface="Arial" panose="020B0604020202090204" pitchFamily="34" charset="0"/>
              </a:defRPr>
            </a:lvl1p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lvl1pPr>
              <a:defRPr>
                <a:cs typeface="Arial" panose="020B0604020202090204" pitchFamily="34" charset="0"/>
              </a:defRPr>
            </a:lvl1p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lvl1pPr>
              <a:defRPr>
                <a:cs typeface="Arial" panose="020B0604020202090204" pitchFamily="34" charset="0"/>
              </a:defRPr>
            </a:lvl1p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lvl1pPr>
              <a:defRPr>
                <a:cs typeface="Arial" panose="020B0604020202090204" pitchFamily="34" charset="0"/>
              </a:defRPr>
            </a:lvl1p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lvl1pPr>
              <a:defRPr>
                <a:cs typeface="Arial" panose="020B0604020202090204" pitchFamily="34" charset="0"/>
              </a:defRPr>
            </a:lvl1p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lvl1pPr>
              <a:defRPr>
                <a:cs typeface="HarmonyOS Sans SC Medium" panose="00000600000000000000"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lvl1pPr>
              <a:defRPr>
                <a:cs typeface="HarmonyOS Sans SC Medium" panose="00000600000000000000" charset="-122"/>
              </a:defRPr>
            </a:lvl1pPr>
            <a:lvl2pPr>
              <a:defRPr>
                <a:cs typeface="HarmonyOS Sans SC Medium" panose="00000600000000000000" charset="-122"/>
              </a:defRPr>
            </a:lvl2pPr>
            <a:lvl3pPr>
              <a:defRPr>
                <a:cs typeface="HarmonyOS Sans SC Medium" panose="00000600000000000000" charset="-122"/>
              </a:defRPr>
            </a:lvl3pPr>
            <a:lvl4pPr>
              <a:defRPr>
                <a:cs typeface="HarmonyOS Sans SC Medium" panose="00000600000000000000" charset="-122"/>
              </a:defRPr>
            </a:lvl4pPr>
            <a:lvl5pPr>
              <a:defRPr>
                <a:cs typeface="HarmonyOS Sans SC Medium" panose="00000600000000000000"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lvl1pPr>
              <a:defRPr>
                <a:cs typeface="HarmonyOS Sans SC Medium" panose="00000600000000000000" charset="-122"/>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lvl1pPr>
              <a:defRPr>
                <a:cs typeface="HarmonyOS Sans SC Medium" panose="00000600000000000000" charset="-122"/>
              </a:defRPr>
            </a:lvl1p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lvl1pPr>
              <a:defRPr>
                <a:cs typeface="HarmonyOS Sans SC Medium" panose="00000600000000000000" charset="-122"/>
              </a:defRPr>
            </a:lvl1p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tags" Target="../tags/tag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ustDataLst>
      <p:tags r:id="rId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6" Type="http://schemas.openxmlformats.org/officeDocument/2006/relationships/notesSlide" Target="../notesSlides/notesSlide2.xml"/><Relationship Id="rId15" Type="http://schemas.openxmlformats.org/officeDocument/2006/relationships/slideLayout" Target="../slideLayouts/slideLayout1.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16.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tags" Target="../tags/tag17.xml"/><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xml"/><Relationship Id="rId7" Type="http://schemas.openxmlformats.org/officeDocument/2006/relationships/tags" Target="../tags/tag18.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tags" Target="../tags/tag19.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tags" Target="../tags/tag20.xml"/><Relationship Id="rId2" Type="http://schemas.openxmlformats.org/officeDocument/2006/relationships/image" Target="../media/image10.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tags" Target="../tags/tag21.xml"/><Relationship Id="rId2" Type="http://schemas.openxmlformats.org/officeDocument/2006/relationships/image" Target="../media/image11.pn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image" Target="../media/image12.pn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tags" Target="../tags/tag27.xml"/><Relationship Id="rId2" Type="http://schemas.openxmlformats.org/officeDocument/2006/relationships/image" Target="../media/image13.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tags" Target="../tags/tag30.xml"/><Relationship Id="rId3" Type="http://schemas.openxmlformats.org/officeDocument/2006/relationships/image" Target="../media/image14.png"/><Relationship Id="rId2" Type="http://schemas.openxmlformats.org/officeDocument/2006/relationships/tags" Target="../tags/tag29.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image" Target="../media/image21.svg"/><Relationship Id="rId7" Type="http://schemas.openxmlformats.org/officeDocument/2006/relationships/image" Target="../media/image20.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svg"/><Relationship Id="rId2" Type="http://schemas.openxmlformats.org/officeDocument/2006/relationships/image" Target="../media/image15.png"/><Relationship Id="rId11" Type="http://schemas.openxmlformats.org/officeDocument/2006/relationships/notesSlide" Target="../notesSlides/notesSlide16.xml"/><Relationship Id="rId10" Type="http://schemas.openxmlformats.org/officeDocument/2006/relationships/slideLayout" Target="../slideLayouts/slideLayout1.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tags" Target="../tags/tag33.xml"/><Relationship Id="rId2" Type="http://schemas.openxmlformats.org/officeDocument/2006/relationships/image" Target="../media/image22.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tags" Target="../tags/tag39.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2"/>
          <p:cNvPicPr>
            <a:picLocks noChangeAspect="1"/>
          </p:cNvPicPr>
          <p:nvPr/>
        </p:nvPicPr>
        <p:blipFill>
          <a:blip r:embed="rId1"/>
          <a:stretch>
            <a:fillRect/>
          </a:stretch>
        </p:blipFill>
        <p:spPr>
          <a:xfrm>
            <a:off x="0" y="0"/>
            <a:ext cx="12192000" cy="6858000"/>
          </a:xfrm>
          <a:prstGeom prst="rect">
            <a:avLst/>
          </a:prstGeom>
        </p:spPr>
      </p:pic>
      <p:sp>
        <p:nvSpPr>
          <p:cNvPr id="4" name="文本框 3"/>
          <p:cNvSpPr txBox="1"/>
          <p:nvPr/>
        </p:nvSpPr>
        <p:spPr>
          <a:xfrm>
            <a:off x="2603500" y="1823720"/>
            <a:ext cx="6899275" cy="1568450"/>
          </a:xfrm>
          <a:prstGeom prst="rect">
            <a:avLst/>
          </a:prstGeom>
          <a:noFill/>
        </p:spPr>
        <p:txBody>
          <a:bodyPr wrap="none" rtlCol="0">
            <a:spAutoFit/>
          </a:bodyPr>
          <a:p>
            <a:pPr algn="ctr"/>
            <a:r>
              <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rPr>
              <a:t>AutoTestDesign</a:t>
            </a:r>
            <a:endPar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a:p>
            <a:pPr algn="ctr"/>
            <a:r>
              <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rPr>
              <a:t>AI-Driven Test Design Tool</a:t>
            </a:r>
            <a:endPar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sp>
        <p:nvSpPr>
          <p:cNvPr id="20" name="TextBox 19"/>
          <p:cNvSpPr/>
          <p:nvPr/>
        </p:nvSpPr>
        <p:spPr>
          <a:xfrm>
            <a:off x="3661728" y="3488055"/>
            <a:ext cx="4868545" cy="460375"/>
          </a:xfrm>
          <a:prstGeom prst="rect">
            <a:avLst/>
          </a:prstGeom>
          <a:noFill/>
          <a:ln w="9525">
            <a:noFill/>
          </a:ln>
        </p:spPr>
        <p:txBody>
          <a:bodyPr wrap="square">
            <a:spAutoFit/>
          </a:bodyPr>
          <a:p>
            <a:pPr algn="ctr">
              <a:lnSpc>
                <a:spcPct val="150000"/>
              </a:lnSpc>
              <a:buClr>
                <a:srgbClr val="E36C09"/>
              </a:buClr>
            </a:pPr>
            <a:r>
              <a:rPr lang="en-US" altLang="zh-CN" sz="1600" dirty="0">
                <a:solidFill>
                  <a:srgbClr val="846749"/>
                </a:solidFill>
                <a:latin typeface="HarmonyOS Sans SC Medium" panose="00000600000000000000" charset="-122"/>
                <a:cs typeface="HarmonyOS Sans SC Medium" panose="00000600000000000000" charset="-122"/>
                <a:sym typeface="HarmonyOS Sans SC Medium" panose="00000600000000000000" charset="-122"/>
              </a:rPr>
              <a:t>Software Testing Final Project</a:t>
            </a:r>
            <a:endParaRPr lang="en-US" altLang="zh-CN" sz="1600" dirty="0">
              <a:solidFill>
                <a:srgbClr val="846749"/>
              </a:solidFill>
              <a:latin typeface="HarmonyOS Sans SC Medium" panose="00000600000000000000" charset="-122"/>
              <a:cs typeface="HarmonyOS Sans SC Medium" panose="00000600000000000000" charset="-122"/>
              <a:sym typeface="HarmonyOS Sans SC Medium" panose="00000600000000000000" charset="-122"/>
            </a:endParaRPr>
          </a:p>
        </p:txBody>
      </p:sp>
      <p:sp>
        <p:nvSpPr>
          <p:cNvPr id="7" name="TextBox 19"/>
          <p:cNvSpPr/>
          <p:nvPr/>
        </p:nvSpPr>
        <p:spPr>
          <a:xfrm>
            <a:off x="2439035" y="4407535"/>
            <a:ext cx="7228205" cy="805180"/>
          </a:xfrm>
          <a:prstGeom prst="rect">
            <a:avLst/>
          </a:prstGeom>
          <a:noFill/>
          <a:ln w="9525">
            <a:noFill/>
          </a:ln>
        </p:spPr>
        <p:txBody>
          <a:bodyPr wrap="square">
            <a:noAutofit/>
          </a:bodyPr>
          <a:p>
            <a:pPr algn="ctr">
              <a:lnSpc>
                <a:spcPct val="150000"/>
              </a:lnSpc>
              <a:buClr>
                <a:srgbClr val="E36C09"/>
              </a:buClr>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2353408   </a:t>
            </a:r>
            <a:r>
              <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周由</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2352191    </a:t>
            </a:r>
            <a:r>
              <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吴昀洁</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2354447   </a:t>
            </a:r>
            <a:r>
              <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陈萨宇</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gn="ctr">
              <a:lnSpc>
                <a:spcPct val="150000"/>
              </a:lnSpc>
              <a:buClr>
                <a:srgbClr val="E36C09"/>
              </a:buClr>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2353814   </a:t>
            </a:r>
            <a:r>
              <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马小龙</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2351707   </a:t>
            </a:r>
            <a:r>
              <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马敏慧智</a:t>
            </a:r>
            <a:endPar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cxnSp>
        <p:nvCxnSpPr>
          <p:cNvPr id="8" name="直接连接符 7"/>
          <p:cNvCxnSpPr/>
          <p:nvPr/>
        </p:nvCxnSpPr>
        <p:spPr>
          <a:xfrm>
            <a:off x="2691765" y="3402965"/>
            <a:ext cx="6732270" cy="0"/>
          </a:xfrm>
          <a:prstGeom prst="line">
            <a:avLst/>
          </a:prstGeom>
          <a:ln>
            <a:solidFill>
              <a:srgbClr val="846749"/>
            </a:solidFill>
          </a:ln>
        </p:spPr>
        <p:style>
          <a:lnRef idx="1">
            <a:schemeClr val="accent1"/>
          </a:lnRef>
          <a:fillRef idx="0">
            <a:schemeClr val="accent1"/>
          </a:fillRef>
          <a:effectRef idx="0">
            <a:schemeClr val="accent1"/>
          </a:effectRef>
          <a:fontRef idx="minor">
            <a:schemeClr val="tx1"/>
          </a:fontRef>
        </p:style>
      </p:cxnSp>
    </p:spTree>
    <p:custDataLst>
      <p:tags r:id="rId2"/>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2"/>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custDataLst>
              <p:tags r:id="rId2"/>
            </p:custDataLst>
          </p:nvPr>
        </p:nvSpPr>
        <p:spPr>
          <a:xfrm>
            <a:off x="2976880" y="2861945"/>
            <a:ext cx="3632835" cy="460375"/>
          </a:xfrm>
          <a:prstGeom prst="rect">
            <a:avLst/>
          </a:prstGeom>
          <a:noFill/>
        </p:spPr>
        <p:txBody>
          <a:bodyPr wrap="square" rtlCol="0">
            <a:spAutoFit/>
          </a:bodyPr>
          <a:p>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The Problem &amp; Our Idea</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 name="椭圆 2"/>
          <p:cNvSpPr/>
          <p:nvPr>
            <p:custDataLst>
              <p:tags r:id="rId3"/>
            </p:custDataLst>
          </p:nvPr>
        </p:nvSpPr>
        <p:spPr>
          <a:xfrm>
            <a:off x="2190115" y="2743835"/>
            <a:ext cx="705485" cy="705485"/>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latin typeface="HarmonyOS Sans SC Medium" panose="00000600000000000000" charset="-122"/>
              <a:ea typeface="HarmonyOS Sans SC Medium" panose="00000600000000000000" charset="-122"/>
              <a:cs typeface="HarmonyOS Sans SC Medium" panose="00000600000000000000" charset="-122"/>
            </a:endParaRPr>
          </a:p>
        </p:txBody>
      </p:sp>
      <p:sp>
        <p:nvSpPr>
          <p:cNvPr id="28" name="文本框 27"/>
          <p:cNvSpPr txBox="1"/>
          <p:nvPr/>
        </p:nvSpPr>
        <p:spPr>
          <a:xfrm>
            <a:off x="4535805" y="926465"/>
            <a:ext cx="3121025" cy="829945"/>
          </a:xfrm>
          <a:prstGeom prst="rect">
            <a:avLst/>
          </a:prstGeom>
          <a:noFill/>
        </p:spPr>
        <p:txBody>
          <a:bodyPr wrap="none" rtlCol="0">
            <a:spAutoFit/>
          </a:bodyPr>
          <a:p>
            <a:pPr algn="l"/>
            <a:r>
              <a:rPr lang="en-US" sz="4800">
                <a:ln>
                  <a:noFill/>
                </a:ln>
                <a:solidFill>
                  <a:srgbClr val="846749"/>
                </a:solidFill>
                <a:latin typeface="思源宋体 CN Heavy" panose="02020900000000000000" charset="-122"/>
                <a:ea typeface="思源宋体 CN Heavy" panose="02020900000000000000" charset="-122"/>
                <a:cs typeface="HarmonyOS Sans SC Medium" panose="00000600000000000000" charset="-122"/>
                <a:sym typeface="+mn-ea"/>
              </a:rPr>
              <a:t>CONTENTS</a:t>
            </a:r>
            <a:endParaRPr 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sp>
        <p:nvSpPr>
          <p:cNvPr id="30" name="文本框 29"/>
          <p:cNvSpPr txBox="1"/>
          <p:nvPr>
            <p:custDataLst>
              <p:tags r:id="rId4"/>
            </p:custDataLst>
          </p:nvPr>
        </p:nvSpPr>
        <p:spPr>
          <a:xfrm>
            <a:off x="2209800" y="2769235"/>
            <a:ext cx="690880" cy="645160"/>
          </a:xfrm>
          <a:prstGeom prst="rect">
            <a:avLst/>
          </a:prstGeom>
          <a:noFill/>
        </p:spPr>
        <p:txBody>
          <a:bodyPr wrap="none" rtlCol="0">
            <a:spAutoFit/>
          </a:bodyPr>
          <a:p>
            <a:r>
              <a:rPr lang="en-US" altLang="zh-CN" sz="3600">
                <a:solidFill>
                  <a:schemeClr val="bg1"/>
                </a:solidFill>
                <a:cs typeface="HarmonyOS Sans SC Medium" panose="00000600000000000000" charset="-122"/>
              </a:rPr>
              <a:t>01</a:t>
            </a:r>
            <a:endParaRPr lang="en-US" altLang="zh-CN" sz="3600">
              <a:solidFill>
                <a:schemeClr val="bg1"/>
              </a:solidFill>
              <a:cs typeface="HarmonyOS Sans SC Medium" panose="00000600000000000000" charset="-122"/>
            </a:endParaRPr>
          </a:p>
        </p:txBody>
      </p:sp>
      <p:sp>
        <p:nvSpPr>
          <p:cNvPr id="34" name="稻壳夜秋https://www.docer.com/works?userid=555357443"/>
          <p:cNvSpPr txBox="1"/>
          <p:nvPr>
            <p:custDataLst>
              <p:tags r:id="rId5"/>
            </p:custDataLst>
          </p:nvPr>
        </p:nvSpPr>
        <p:spPr>
          <a:xfrm>
            <a:off x="7497445" y="2861945"/>
            <a:ext cx="3632835" cy="460375"/>
          </a:xfrm>
          <a:prstGeom prst="rect">
            <a:avLst/>
          </a:prstGeom>
          <a:noFill/>
        </p:spPr>
        <p:txBody>
          <a:bodyPr wrap="square" rtlCol="0">
            <a:spAutoFit/>
          </a:bodyPr>
          <a:p>
            <a:pPr algn="l"/>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System Design</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6" name="椭圆 35"/>
          <p:cNvSpPr/>
          <p:nvPr>
            <p:custDataLst>
              <p:tags r:id="rId6"/>
            </p:custDataLst>
          </p:nvPr>
        </p:nvSpPr>
        <p:spPr>
          <a:xfrm>
            <a:off x="6685915" y="2743835"/>
            <a:ext cx="705485" cy="705485"/>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latin typeface="HarmonyOS Sans SC Medium" panose="00000600000000000000" charset="-122"/>
              <a:ea typeface="HarmonyOS Sans SC Medium" panose="00000600000000000000" charset="-122"/>
              <a:cs typeface="HarmonyOS Sans SC Medium" panose="00000600000000000000" charset="-122"/>
            </a:endParaRPr>
          </a:p>
        </p:txBody>
      </p:sp>
      <p:sp>
        <p:nvSpPr>
          <p:cNvPr id="37" name="文本框 36"/>
          <p:cNvSpPr txBox="1"/>
          <p:nvPr>
            <p:custDataLst>
              <p:tags r:id="rId7"/>
            </p:custDataLst>
          </p:nvPr>
        </p:nvSpPr>
        <p:spPr>
          <a:xfrm>
            <a:off x="6705600" y="2769235"/>
            <a:ext cx="690880" cy="645160"/>
          </a:xfrm>
          <a:prstGeom prst="rect">
            <a:avLst/>
          </a:prstGeom>
          <a:noFill/>
        </p:spPr>
        <p:txBody>
          <a:bodyPr wrap="none" rtlCol="0">
            <a:spAutoFit/>
          </a:bodyPr>
          <a:p>
            <a:r>
              <a:rPr lang="en-US" altLang="zh-CN" sz="3600">
                <a:solidFill>
                  <a:schemeClr val="bg1"/>
                </a:solidFill>
                <a:cs typeface="HarmonyOS Sans SC Medium" panose="00000600000000000000" charset="-122"/>
              </a:rPr>
              <a:t>02</a:t>
            </a:r>
            <a:endParaRPr lang="en-US" altLang="zh-CN" sz="3600">
              <a:solidFill>
                <a:schemeClr val="bg1"/>
              </a:solidFill>
              <a:cs typeface="HarmonyOS Sans SC Medium" panose="00000600000000000000" charset="-122"/>
            </a:endParaRPr>
          </a:p>
        </p:txBody>
      </p:sp>
      <p:sp>
        <p:nvSpPr>
          <p:cNvPr id="39" name="稻壳夜秋https://www.docer.com/works?userid=555357443"/>
          <p:cNvSpPr txBox="1"/>
          <p:nvPr>
            <p:custDataLst>
              <p:tags r:id="rId8"/>
            </p:custDataLst>
          </p:nvPr>
        </p:nvSpPr>
        <p:spPr>
          <a:xfrm>
            <a:off x="2971800" y="4309745"/>
            <a:ext cx="3632835" cy="460375"/>
          </a:xfrm>
          <a:prstGeom prst="rect">
            <a:avLst/>
          </a:prstGeom>
          <a:noFill/>
        </p:spPr>
        <p:txBody>
          <a:bodyPr wrap="square" rtlCol="0">
            <a:spAutoFit/>
          </a:bodyPr>
          <a:p>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Test Design</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41" name="椭圆 40"/>
          <p:cNvSpPr/>
          <p:nvPr>
            <p:custDataLst>
              <p:tags r:id="rId9"/>
            </p:custDataLst>
          </p:nvPr>
        </p:nvSpPr>
        <p:spPr>
          <a:xfrm>
            <a:off x="2190115" y="4191635"/>
            <a:ext cx="705485" cy="705485"/>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latin typeface="HarmonyOS Sans SC Medium" panose="00000600000000000000" charset="-122"/>
              <a:ea typeface="HarmonyOS Sans SC Medium" panose="00000600000000000000" charset="-122"/>
              <a:cs typeface="HarmonyOS Sans SC Medium" panose="00000600000000000000" charset="-122"/>
            </a:endParaRPr>
          </a:p>
        </p:txBody>
      </p:sp>
      <p:sp>
        <p:nvSpPr>
          <p:cNvPr id="42" name="文本框 41"/>
          <p:cNvSpPr txBox="1"/>
          <p:nvPr>
            <p:custDataLst>
              <p:tags r:id="rId10"/>
            </p:custDataLst>
          </p:nvPr>
        </p:nvSpPr>
        <p:spPr>
          <a:xfrm>
            <a:off x="2209800" y="4217035"/>
            <a:ext cx="690880" cy="645160"/>
          </a:xfrm>
          <a:prstGeom prst="rect">
            <a:avLst/>
          </a:prstGeom>
          <a:noFill/>
        </p:spPr>
        <p:txBody>
          <a:bodyPr wrap="none" rtlCol="0">
            <a:spAutoFit/>
          </a:bodyPr>
          <a:p>
            <a:r>
              <a:rPr lang="en-US" altLang="zh-CN" sz="3600">
                <a:solidFill>
                  <a:schemeClr val="bg1"/>
                </a:solidFill>
                <a:cs typeface="HarmonyOS Sans SC Medium" panose="00000600000000000000" charset="-122"/>
              </a:rPr>
              <a:t>03</a:t>
            </a:r>
            <a:endParaRPr lang="en-US" altLang="zh-CN" sz="3600">
              <a:solidFill>
                <a:schemeClr val="bg1"/>
              </a:solidFill>
              <a:cs typeface="HarmonyOS Sans SC Medium" panose="00000600000000000000" charset="-122"/>
            </a:endParaRPr>
          </a:p>
        </p:txBody>
      </p:sp>
      <p:sp>
        <p:nvSpPr>
          <p:cNvPr id="44" name="稻壳夜秋https://www.docer.com/works?userid=555357443"/>
          <p:cNvSpPr txBox="1"/>
          <p:nvPr>
            <p:custDataLst>
              <p:tags r:id="rId11"/>
            </p:custDataLst>
          </p:nvPr>
        </p:nvSpPr>
        <p:spPr>
          <a:xfrm>
            <a:off x="7497445" y="4309745"/>
            <a:ext cx="3632835" cy="460375"/>
          </a:xfrm>
          <a:prstGeom prst="rect">
            <a:avLst/>
          </a:prstGeom>
          <a:noFill/>
        </p:spPr>
        <p:txBody>
          <a:bodyPr wrap="square" rtlCol="0">
            <a:spAutoFit/>
          </a:bodyPr>
          <a:p>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Result Analysis</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46" name="椭圆 45"/>
          <p:cNvSpPr/>
          <p:nvPr>
            <p:custDataLst>
              <p:tags r:id="rId12"/>
            </p:custDataLst>
          </p:nvPr>
        </p:nvSpPr>
        <p:spPr>
          <a:xfrm>
            <a:off x="6685915" y="4191635"/>
            <a:ext cx="705485" cy="705485"/>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latin typeface="HarmonyOS Sans SC Medium" panose="00000600000000000000" charset="-122"/>
              <a:ea typeface="HarmonyOS Sans SC Medium" panose="00000600000000000000" charset="-122"/>
              <a:cs typeface="HarmonyOS Sans SC Medium" panose="00000600000000000000" charset="-122"/>
            </a:endParaRPr>
          </a:p>
        </p:txBody>
      </p:sp>
      <p:sp>
        <p:nvSpPr>
          <p:cNvPr id="47" name="文本框 46"/>
          <p:cNvSpPr txBox="1"/>
          <p:nvPr>
            <p:custDataLst>
              <p:tags r:id="rId13"/>
            </p:custDataLst>
          </p:nvPr>
        </p:nvSpPr>
        <p:spPr>
          <a:xfrm>
            <a:off x="6705600" y="4217035"/>
            <a:ext cx="690880" cy="645160"/>
          </a:xfrm>
          <a:prstGeom prst="rect">
            <a:avLst/>
          </a:prstGeom>
          <a:noFill/>
        </p:spPr>
        <p:txBody>
          <a:bodyPr wrap="none" rtlCol="0">
            <a:spAutoFit/>
          </a:bodyPr>
          <a:p>
            <a:r>
              <a:rPr lang="en-US" altLang="zh-CN" sz="3600">
                <a:solidFill>
                  <a:schemeClr val="bg1"/>
                </a:solidFill>
                <a:cs typeface="HarmonyOS Sans SC Medium" panose="00000600000000000000" charset="-122"/>
              </a:rPr>
              <a:t>04</a:t>
            </a:r>
            <a:endParaRPr lang="en-US" altLang="zh-CN" sz="3600">
              <a:solidFill>
                <a:schemeClr val="bg1"/>
              </a:solidFill>
              <a:cs typeface="HarmonyOS Sans SC Medium" panose="00000600000000000000" charset="-122"/>
            </a:endParaRPr>
          </a:p>
        </p:txBody>
      </p:sp>
    </p:spTree>
    <p:custDataLst>
      <p:tags r:id="rId14"/>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6" name="图片 5" descr="q."/>
          <p:cNvPicPr>
            <a:picLocks noChangeAspect="1"/>
          </p:cNvPicPr>
          <p:nvPr/>
        </p:nvPicPr>
        <p:blipFill>
          <a:blip r:embed="rId1"/>
          <a:stretch>
            <a:fillRect/>
          </a:stretch>
        </p:blipFill>
        <p:spPr>
          <a:xfrm>
            <a:off x="635" y="0"/>
            <a:ext cx="12192000" cy="6858000"/>
          </a:xfrm>
          <a:prstGeom prst="rect">
            <a:avLst/>
          </a:prstGeom>
        </p:spPr>
      </p:pic>
      <p:sp>
        <p:nvSpPr>
          <p:cNvPr id="4" name="文本框 3"/>
          <p:cNvSpPr txBox="1"/>
          <p:nvPr/>
        </p:nvSpPr>
        <p:spPr>
          <a:xfrm>
            <a:off x="4610735" y="2623185"/>
            <a:ext cx="3112770" cy="1014730"/>
          </a:xfrm>
          <a:prstGeom prst="rect">
            <a:avLst/>
          </a:prstGeom>
          <a:noFill/>
        </p:spPr>
        <p:txBody>
          <a:bodyPr wrap="none" rtlCol="0">
            <a:spAutoFit/>
          </a:bodyPr>
          <a:p>
            <a:pPr algn="l"/>
            <a:r>
              <a:rPr lang="en-US" altLang="zh-CN" sz="6000">
                <a:solidFill>
                  <a:srgbClr val="846749"/>
                </a:solidFill>
                <a:latin typeface="思源宋体 CN Heavy" panose="02020900000000000000" charset="-122"/>
                <a:ea typeface="思源宋体 CN Heavy" panose="02020900000000000000" charset="-122"/>
                <a:cs typeface="HarmonyOS Sans SC Medium" panose="00000600000000000000" charset="-122"/>
              </a:rPr>
              <a:t>Chapter 1</a:t>
            </a:r>
            <a:endParaRPr lang="en-US" altLang="zh-CN" sz="60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sp>
        <p:nvSpPr>
          <p:cNvPr id="32" name="稻壳夜秋https://www.docer.com/works?userid=555357443"/>
          <p:cNvSpPr txBox="1"/>
          <p:nvPr/>
        </p:nvSpPr>
        <p:spPr>
          <a:xfrm>
            <a:off x="4350385" y="3803650"/>
            <a:ext cx="3632835" cy="460375"/>
          </a:xfrm>
          <a:prstGeom prst="rect">
            <a:avLst/>
          </a:prstGeom>
          <a:noFill/>
        </p:spPr>
        <p:txBody>
          <a:bodyPr wrap="square" rtlCol="0">
            <a:spAutoFit/>
          </a:bodyPr>
          <a:p>
            <a:pPr algn="ct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The Problem &amp; Our Idea</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7" name="椭圆 6"/>
          <p:cNvSpPr/>
          <p:nvPr/>
        </p:nvSpPr>
        <p:spPr>
          <a:xfrm>
            <a:off x="3713480" y="1079500"/>
            <a:ext cx="4826000" cy="4826000"/>
          </a:xfrm>
          <a:prstGeom prst="ellipse">
            <a:avLst/>
          </a:prstGeom>
          <a:noFill/>
          <a:ln>
            <a:solidFill>
              <a:srgbClr val="846749">
                <a:alpha val="1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HarmonyOS Sans SC Medium" panose="00000600000000000000" charset="-122"/>
            </a:endParaRPr>
          </a:p>
        </p:txBody>
      </p:sp>
    </p:spTree>
    <p:custDataLst>
      <p:tags r:id="rId2"/>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4"/>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917700" y="570865"/>
            <a:ext cx="5337810"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The Problem &amp; Our Idea</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0" name="文本框 29"/>
          <p:cNvSpPr txBox="1"/>
          <p:nvPr/>
        </p:nvSpPr>
        <p:spPr>
          <a:xfrm>
            <a:off x="1028700" y="416560"/>
            <a:ext cx="792480" cy="829945"/>
          </a:xfrm>
          <a:prstGeom prst="rect">
            <a:avLst/>
          </a:prstGeom>
          <a:noFill/>
        </p:spPr>
        <p:txBody>
          <a:bodyPr wrap="none" rtlCol="0">
            <a:spAutoFit/>
          </a:bodyPr>
          <a:p>
            <a:r>
              <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rPr>
              <a:t>01</a:t>
            </a:r>
            <a:endPar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sp>
        <p:nvSpPr>
          <p:cNvPr id="7" name="文本框 6"/>
          <p:cNvSpPr txBox="1"/>
          <p:nvPr/>
        </p:nvSpPr>
        <p:spPr>
          <a:xfrm>
            <a:off x="5831840" y="1769745"/>
            <a:ext cx="4025265"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The Problem</a:t>
            </a:r>
            <a:endParaRPr lang="zh-CN" altLang="en-US" sz="32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8206" name="TextBox 11"/>
          <p:cNvSpPr/>
          <p:nvPr/>
        </p:nvSpPr>
        <p:spPr>
          <a:xfrm>
            <a:off x="5831840" y="2353310"/>
            <a:ext cx="6173470" cy="3386455"/>
          </a:xfrm>
          <a:prstGeom prst="rect">
            <a:avLst/>
          </a:prstGeom>
          <a:noFill/>
          <a:ln w="9525">
            <a:noFill/>
          </a:ln>
        </p:spPr>
        <p:txBody>
          <a:bodyPr wrap="square">
            <a:spAutoFit/>
          </a:bodyPr>
          <a:p>
            <a:pPr marL="285750" indent="-285750">
              <a:lnSpc>
                <a:spcPct val="170000"/>
              </a:lnSpc>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Slow.</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Designing and executing a complete test suite for a backend with 12 requirements manually can require around 20 person-hours.  </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Inconsistent.</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Different engineers often interpret and test the same requirement differently, leading to coverage variability across testers.  </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Gap-prone.</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Boundary conditions, cross-condition combinations, and invalid state transitions are frequently overlooked when relying primarily on intuition.  </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Hard to audit. </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Maintaining traceability between requirements and tests becomes increasingly difficult as the test suite expands.</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pic>
        <p:nvPicPr>
          <p:cNvPr id="5" name="图片 4" descr="problems"/>
          <p:cNvPicPr>
            <a:picLocks noChangeAspect="1"/>
          </p:cNvPicPr>
          <p:nvPr/>
        </p:nvPicPr>
        <p:blipFill>
          <a:blip r:embed="rId2"/>
          <a:stretch>
            <a:fillRect/>
          </a:stretch>
        </p:blipFill>
        <p:spPr>
          <a:xfrm>
            <a:off x="1272540" y="2628265"/>
            <a:ext cx="4275455" cy="2404745"/>
          </a:xfrm>
          <a:prstGeom prst="rect">
            <a:avLst/>
          </a:prstGeom>
        </p:spPr>
      </p:pic>
    </p:spTree>
    <p:custDataLst>
      <p:tags r:id="rId3"/>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4"/>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917700" y="568960"/>
            <a:ext cx="4949825"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The Problem &amp; Our Idea</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0" name="文本框 29"/>
          <p:cNvSpPr txBox="1"/>
          <p:nvPr/>
        </p:nvSpPr>
        <p:spPr>
          <a:xfrm>
            <a:off x="1028700" y="416560"/>
            <a:ext cx="792480" cy="829945"/>
          </a:xfrm>
          <a:prstGeom prst="rect">
            <a:avLst/>
          </a:prstGeom>
          <a:noFill/>
        </p:spPr>
        <p:txBody>
          <a:bodyPr wrap="none" rtlCol="0">
            <a:spAutoFit/>
          </a:bodyPr>
          <a:p>
            <a:pPr algn="l">
              <a:buClrTx/>
              <a:buSzTx/>
              <a:buFontTx/>
            </a:pPr>
            <a:r>
              <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rPr>
              <a:t>01</a:t>
            </a:r>
            <a:endPar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sp>
        <p:nvSpPr>
          <p:cNvPr id="3" name="文本框 2"/>
          <p:cNvSpPr txBox="1"/>
          <p:nvPr/>
        </p:nvSpPr>
        <p:spPr>
          <a:xfrm>
            <a:off x="2917825" y="1435100"/>
            <a:ext cx="6627495" cy="521970"/>
          </a:xfrm>
          <a:prstGeom prst="rect">
            <a:avLst/>
          </a:prstGeom>
          <a:noFill/>
        </p:spPr>
        <p:txBody>
          <a:bodyPr wrap="square" rtlCol="0">
            <a:spAutoFit/>
          </a:bodyPr>
          <a:p>
            <a:pPr algn="ctr"/>
            <a:r>
              <a:rPr lang="en-US" altLang="zh-CN" sz="2800">
                <a:solidFill>
                  <a:srgbClr val="846749"/>
                </a:solidFill>
                <a:latin typeface="HarmonyOS Sans SC Medium" panose="00000600000000000000" charset="-122"/>
                <a:ea typeface="HarmonyOS Sans SC Medium" panose="00000600000000000000" charset="-122"/>
                <a:cs typeface="HarmonyOS Sans SC Medium" panose="00000600000000000000" charset="-122"/>
              </a:rPr>
              <a:t>Our approach — AutoTestDesign</a:t>
            </a:r>
            <a:endParaRPr lang="en-US" altLang="zh-CN" sz="28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4" name="TextBox 11"/>
          <p:cNvSpPr/>
          <p:nvPr/>
        </p:nvSpPr>
        <p:spPr>
          <a:xfrm>
            <a:off x="1460500" y="1957070"/>
            <a:ext cx="9321165" cy="3020060"/>
          </a:xfrm>
          <a:prstGeom prst="rect">
            <a:avLst/>
          </a:prstGeom>
          <a:noFill/>
          <a:ln w="9525">
            <a:noFill/>
          </a:ln>
        </p:spPr>
        <p:txBody>
          <a:bodyPr wrap="square">
            <a:spAutoFit/>
          </a:bodyPr>
          <a:p>
            <a:pPr algn="ctr">
              <a:lnSpc>
                <a:spcPct val="170000"/>
              </a:lnSpc>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The system adopts an AI-assisted, technique-driven workflow in which an LLM structures requirements and assesses risk while deterministic rule engines apply EP, BVA, decision-table, and state-transition coverage. Human-in-the-loop interaction is preserved throughout the process: every intermediate artefact remains editable, and modifications automatically invalidate downstream outputs. Rather than generating documentation alone, the system emphasizes evidence generation by executing produced test cases against a real Django backend directly from the same interface. To ensure reproducibility, identical inputs always produce identical test suites byte-for-byte, while LLM-dependent components automatically fall back to rule-based execution when offline.</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grpSp>
        <p:nvGrpSpPr>
          <p:cNvPr id="13" name="组合 12"/>
          <p:cNvGrpSpPr/>
          <p:nvPr/>
        </p:nvGrpSpPr>
        <p:grpSpPr>
          <a:xfrm>
            <a:off x="2701925" y="5000625"/>
            <a:ext cx="1041400" cy="1041400"/>
            <a:chOff x="3040" y="5155"/>
            <a:chExt cx="1640" cy="1640"/>
          </a:xfrm>
        </p:grpSpPr>
        <p:sp>
          <p:nvSpPr>
            <p:cNvPr id="5" name="椭圆 4"/>
            <p:cNvSpPr/>
            <p:nvPr/>
          </p:nvSpPr>
          <p:spPr>
            <a:xfrm>
              <a:off x="3040" y="5155"/>
              <a:ext cx="1640" cy="1640"/>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HarmonyOS Sans SC Medium" panose="00000600000000000000" charset="-122"/>
              </a:endParaRPr>
            </a:p>
          </p:txBody>
        </p:sp>
        <p:pic>
          <p:nvPicPr>
            <p:cNvPr id="8" name="图片 7" descr="bumenxiangq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80" y="5515"/>
              <a:ext cx="960" cy="960"/>
            </a:xfrm>
            <a:prstGeom prst="rect">
              <a:avLst/>
            </a:prstGeom>
          </p:spPr>
        </p:pic>
      </p:grpSp>
      <p:sp>
        <p:nvSpPr>
          <p:cNvPr id="12" name="椭圆 11"/>
          <p:cNvSpPr/>
          <p:nvPr/>
        </p:nvSpPr>
        <p:spPr>
          <a:xfrm>
            <a:off x="5613400" y="5080635"/>
            <a:ext cx="1041400" cy="1041400"/>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HarmonyOS Sans SC Medium" panose="00000600000000000000" charset="-122"/>
            </a:endParaRPr>
          </a:p>
        </p:txBody>
      </p:sp>
      <p:sp>
        <p:nvSpPr>
          <p:cNvPr id="14" name="椭圆 13"/>
          <p:cNvSpPr/>
          <p:nvPr/>
        </p:nvSpPr>
        <p:spPr>
          <a:xfrm>
            <a:off x="8585200" y="5080635"/>
            <a:ext cx="1041400" cy="1041400"/>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HarmonyOS Sans SC Medium" panose="00000600000000000000" charset="-122"/>
            </a:endParaRPr>
          </a:p>
        </p:txBody>
      </p:sp>
      <p:pic>
        <p:nvPicPr>
          <p:cNvPr id="72" name="图片 71" descr="kongzhitai"/>
          <p:cNvPicPr>
            <a:picLocks noChangeAspect="1"/>
          </p:cNvPicPr>
          <p:nvPr/>
        </p:nvPicPr>
        <p:blipFill>
          <a:blip r:embed="rId4"/>
          <a:stretch>
            <a:fillRect/>
          </a:stretch>
        </p:blipFill>
        <p:spPr>
          <a:xfrm>
            <a:off x="8778875" y="5267325"/>
            <a:ext cx="676275" cy="676275"/>
          </a:xfrm>
          <a:prstGeom prst="rect">
            <a:avLst/>
          </a:prstGeom>
        </p:spPr>
      </p:pic>
      <p:pic>
        <p:nvPicPr>
          <p:cNvPr id="71" name="图片 70" descr="kongzhiqi"/>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93105" y="5267325"/>
            <a:ext cx="676275" cy="676275"/>
          </a:xfrm>
          <a:prstGeom prst="rect">
            <a:avLst/>
          </a:prstGeom>
        </p:spPr>
      </p:pic>
    </p:spTree>
    <p:custDataLst>
      <p:tags r:id="rId7"/>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6" name="图片 5" descr="q."/>
          <p:cNvPicPr>
            <a:picLocks noChangeAspect="1"/>
          </p:cNvPicPr>
          <p:nvPr/>
        </p:nvPicPr>
        <p:blipFill>
          <a:blip r:embed="rId1"/>
          <a:stretch>
            <a:fillRect/>
          </a:stretch>
        </p:blipFill>
        <p:spPr>
          <a:xfrm>
            <a:off x="635" y="0"/>
            <a:ext cx="12192000" cy="6858000"/>
          </a:xfrm>
          <a:prstGeom prst="rect">
            <a:avLst/>
          </a:prstGeom>
        </p:spPr>
      </p:pic>
      <p:sp>
        <p:nvSpPr>
          <p:cNvPr id="4" name="文本框 3"/>
          <p:cNvSpPr txBox="1"/>
          <p:nvPr/>
        </p:nvSpPr>
        <p:spPr>
          <a:xfrm>
            <a:off x="4610735" y="2623185"/>
            <a:ext cx="3112770" cy="1014730"/>
          </a:xfrm>
          <a:prstGeom prst="rect">
            <a:avLst/>
          </a:prstGeom>
          <a:noFill/>
        </p:spPr>
        <p:txBody>
          <a:bodyPr wrap="none" rtlCol="0">
            <a:spAutoFit/>
          </a:bodyPr>
          <a:p>
            <a:pPr algn="l"/>
            <a:r>
              <a:rPr lang="en-US" altLang="zh-CN" sz="6000">
                <a:solidFill>
                  <a:srgbClr val="846749"/>
                </a:solidFill>
                <a:latin typeface="思源宋体 CN Heavy" panose="02020900000000000000" charset="-122"/>
                <a:ea typeface="思源宋体 CN Heavy" panose="02020900000000000000" charset="-122"/>
                <a:cs typeface="HarmonyOS Sans SC Medium" panose="00000600000000000000" charset="-122"/>
              </a:rPr>
              <a:t>Chapter 2</a:t>
            </a:r>
            <a:endParaRPr lang="en-US" altLang="zh-CN" sz="60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sp>
        <p:nvSpPr>
          <p:cNvPr id="32" name="稻壳夜秋https://www.docer.com/works?userid=555357443"/>
          <p:cNvSpPr txBox="1"/>
          <p:nvPr/>
        </p:nvSpPr>
        <p:spPr>
          <a:xfrm>
            <a:off x="4350385" y="3803650"/>
            <a:ext cx="3632835" cy="460375"/>
          </a:xfrm>
          <a:prstGeom prst="rect">
            <a:avLst/>
          </a:prstGeom>
          <a:noFill/>
        </p:spPr>
        <p:txBody>
          <a:bodyPr wrap="square" rtlCol="0">
            <a:spAutoFit/>
          </a:bodyPr>
          <a:p>
            <a:pPr algn="ct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System Design</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7" name="椭圆 6"/>
          <p:cNvSpPr/>
          <p:nvPr/>
        </p:nvSpPr>
        <p:spPr>
          <a:xfrm>
            <a:off x="3713480" y="1079500"/>
            <a:ext cx="4826000" cy="4826000"/>
          </a:xfrm>
          <a:prstGeom prst="ellipse">
            <a:avLst/>
          </a:prstGeom>
          <a:noFill/>
          <a:ln>
            <a:solidFill>
              <a:srgbClr val="846749">
                <a:alpha val="1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HarmonyOS Sans SC Medium" panose="00000600000000000000" charset="-122"/>
            </a:endParaRPr>
          </a:p>
        </p:txBody>
      </p:sp>
    </p:spTree>
    <p:custDataLst>
      <p:tags r:id="rId2"/>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4"/>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917700" y="539750"/>
            <a:ext cx="3632835" cy="583565"/>
          </a:xfrm>
          <a:prstGeom prst="rect">
            <a:avLst/>
          </a:prstGeom>
          <a:noFill/>
        </p:spPr>
        <p:txBody>
          <a:bodyPr wrap="square" rtlCol="0">
            <a:spAutoFit/>
          </a:bodyPr>
          <a:p>
            <a:pPr algn="l">
              <a:buClrTx/>
              <a:buSzTx/>
              <a:buFontTx/>
            </a:pPr>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System Design</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0" name="文本框 29"/>
          <p:cNvSpPr txBox="1"/>
          <p:nvPr/>
        </p:nvSpPr>
        <p:spPr>
          <a:xfrm>
            <a:off x="1028700" y="416560"/>
            <a:ext cx="792480" cy="829945"/>
          </a:xfrm>
          <a:prstGeom prst="rect">
            <a:avLst/>
          </a:prstGeom>
          <a:noFill/>
        </p:spPr>
        <p:txBody>
          <a:bodyPr wrap="none" rtlCol="0">
            <a:spAutoFit/>
          </a:bodyPr>
          <a:p>
            <a:pPr algn="l">
              <a:buClrTx/>
              <a:buSzTx/>
              <a:buFontTx/>
            </a:pPr>
            <a:r>
              <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rPr>
              <a:t>02</a:t>
            </a:r>
            <a:endPar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sp>
        <p:nvSpPr>
          <p:cNvPr id="7" name="文本框 6"/>
          <p:cNvSpPr txBox="1"/>
          <p:nvPr/>
        </p:nvSpPr>
        <p:spPr>
          <a:xfrm>
            <a:off x="5727700" y="1918970"/>
            <a:ext cx="4025265"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rPr>
              <a:t>Two-layer model</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8206" name="TextBox 11"/>
          <p:cNvSpPr/>
          <p:nvPr/>
        </p:nvSpPr>
        <p:spPr>
          <a:xfrm>
            <a:off x="5727700" y="2783840"/>
            <a:ext cx="5829300" cy="2654300"/>
          </a:xfrm>
          <a:prstGeom prst="rect">
            <a:avLst/>
          </a:prstGeom>
          <a:noFill/>
          <a:ln w="9525">
            <a:noFill/>
          </a:ln>
        </p:spPr>
        <p:txBody>
          <a:bodyPr wrap="square">
            <a:spAutoFit/>
          </a:bodyPr>
          <a:p>
            <a:pPr marL="285750" indent="-285750">
              <a:lnSpc>
                <a:spcPct val="170000"/>
              </a:lnSpc>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Layer A — Tool.</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AutoTestDesign transforms natural-language requirements into structured testing artefacts (app.py + core/*).  </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Layer B — Execution.</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PyTest executes these artefacts against the target Django backend (tests/ + target_app/).  </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Step 8 closes the loop.</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Layer B is invoked directly from Layer A, enabling the complete end-to-end workflow to run within a single browser session.</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pic>
        <p:nvPicPr>
          <p:cNvPr id="3" name="图片 2"/>
          <p:cNvPicPr>
            <a:picLocks noChangeAspect="1"/>
          </p:cNvPicPr>
          <p:nvPr/>
        </p:nvPicPr>
        <p:blipFill>
          <a:blip r:embed="rId2"/>
          <a:stretch>
            <a:fillRect/>
          </a:stretch>
        </p:blipFill>
        <p:spPr>
          <a:xfrm>
            <a:off x="1770380" y="1315720"/>
            <a:ext cx="3617595" cy="4883785"/>
          </a:xfrm>
          <a:prstGeom prst="rect">
            <a:avLst/>
          </a:prstGeom>
        </p:spPr>
      </p:pic>
    </p:spTree>
    <p:custDataLst>
      <p:tags r:id="rId3"/>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4"/>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917700" y="539750"/>
            <a:ext cx="3632835" cy="583565"/>
          </a:xfrm>
          <a:prstGeom prst="rect">
            <a:avLst/>
          </a:prstGeom>
          <a:noFill/>
        </p:spPr>
        <p:txBody>
          <a:bodyPr wrap="square" rtlCol="0">
            <a:spAutoFit/>
          </a:bodyPr>
          <a:p>
            <a:pPr algn="l">
              <a:buClrTx/>
              <a:buSzTx/>
              <a:buFontTx/>
            </a:pPr>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System Design</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0" name="文本框 29"/>
          <p:cNvSpPr txBox="1"/>
          <p:nvPr/>
        </p:nvSpPr>
        <p:spPr>
          <a:xfrm>
            <a:off x="1028700" y="416560"/>
            <a:ext cx="792480" cy="829945"/>
          </a:xfrm>
          <a:prstGeom prst="rect">
            <a:avLst/>
          </a:prstGeom>
          <a:noFill/>
        </p:spPr>
        <p:txBody>
          <a:bodyPr wrap="none" rtlCol="0">
            <a:spAutoFit/>
          </a:bodyPr>
          <a:p>
            <a:pPr algn="l">
              <a:buClrTx/>
              <a:buSzTx/>
              <a:buFontTx/>
            </a:pPr>
            <a:r>
              <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rPr>
              <a:t>02</a:t>
            </a:r>
            <a:endPar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sp>
        <p:nvSpPr>
          <p:cNvPr id="7" name="文本框 6"/>
          <p:cNvSpPr txBox="1"/>
          <p:nvPr/>
        </p:nvSpPr>
        <p:spPr>
          <a:xfrm>
            <a:off x="685165" y="4854575"/>
            <a:ext cx="4025265"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rPr>
              <a:t>Two-layer model</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8206" name="TextBox 11"/>
          <p:cNvSpPr/>
          <p:nvPr/>
        </p:nvSpPr>
        <p:spPr>
          <a:xfrm>
            <a:off x="4352290" y="3740785"/>
            <a:ext cx="7854950" cy="2654300"/>
          </a:xfrm>
          <a:prstGeom prst="rect">
            <a:avLst/>
          </a:prstGeom>
          <a:noFill/>
          <a:ln w="9525">
            <a:noFill/>
          </a:ln>
        </p:spPr>
        <p:txBody>
          <a:bodyPr wrap="square">
            <a:spAutoFit/>
          </a:bodyPr>
          <a:p>
            <a:pPr marL="285750" indent="-285750">
              <a:lnSpc>
                <a:spcPct val="170000"/>
              </a:lnSpc>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UI layer (app.py)</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scheduler functions + st.data_editor tables for interactive review.</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Engine layer (core/)</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parser, risk analyser, coverage, test-case generator, state model, oracle, optimiser, exporter, in-UI runner.</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External</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Mini-E-Commerce backend (Django REST) + LLM endpoint.</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Colour legend</a:t>
            </a: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blue = LLM-backed, green = deterministic rule engines, orange = UI, purple = external.</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Only </a:t>
            </a: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two stages</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use the LLM (parser, risk); everything else is reproducible rule code.</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pic>
        <p:nvPicPr>
          <p:cNvPr id="5" name="图片 4" descr="截屏2026-05-30 14.55.14"/>
          <p:cNvPicPr>
            <a:picLocks noChangeAspect="1"/>
          </p:cNvPicPr>
          <p:nvPr/>
        </p:nvPicPr>
        <p:blipFill>
          <a:blip r:embed="rId2"/>
          <a:stretch>
            <a:fillRect/>
          </a:stretch>
        </p:blipFill>
        <p:spPr>
          <a:xfrm>
            <a:off x="0" y="1499870"/>
            <a:ext cx="12192000" cy="2121535"/>
          </a:xfrm>
          <a:prstGeom prst="rect">
            <a:avLst/>
          </a:prstGeom>
        </p:spPr>
      </p:pic>
    </p:spTree>
    <p:custDataLst>
      <p:tags r:id="rId3"/>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4"/>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917700" y="539750"/>
            <a:ext cx="3632835" cy="583565"/>
          </a:xfrm>
          <a:prstGeom prst="rect">
            <a:avLst/>
          </a:prstGeom>
          <a:noFill/>
        </p:spPr>
        <p:txBody>
          <a:bodyPr wrap="square" rtlCol="0">
            <a:spAutoFit/>
          </a:bodyPr>
          <a:p>
            <a:pPr algn="l">
              <a:buClrTx/>
              <a:buSzTx/>
              <a:buFontTx/>
            </a:pPr>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System Design</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0" name="文本框 29"/>
          <p:cNvSpPr txBox="1"/>
          <p:nvPr/>
        </p:nvSpPr>
        <p:spPr>
          <a:xfrm>
            <a:off x="1028700" y="416560"/>
            <a:ext cx="792480" cy="829945"/>
          </a:xfrm>
          <a:prstGeom prst="rect">
            <a:avLst/>
          </a:prstGeom>
          <a:noFill/>
        </p:spPr>
        <p:txBody>
          <a:bodyPr wrap="none" rtlCol="0">
            <a:spAutoFit/>
          </a:bodyPr>
          <a:p>
            <a:pPr algn="l">
              <a:buClrTx/>
              <a:buSzTx/>
              <a:buFontTx/>
            </a:pPr>
            <a:r>
              <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rPr>
              <a:t>02</a:t>
            </a:r>
            <a:endPar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sp>
        <p:nvSpPr>
          <p:cNvPr id="7" name="文本框 6"/>
          <p:cNvSpPr txBox="1"/>
          <p:nvPr/>
        </p:nvSpPr>
        <p:spPr>
          <a:xfrm>
            <a:off x="685165" y="4854575"/>
            <a:ext cx="4249420"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rPr>
              <a:t>Nine-Step Workflow</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pic>
        <p:nvPicPr>
          <p:cNvPr id="3" name="图片 2" descr="截屏2026-05-30 14.54.23"/>
          <p:cNvPicPr>
            <a:picLocks noChangeAspect="1"/>
          </p:cNvPicPr>
          <p:nvPr/>
        </p:nvPicPr>
        <p:blipFill>
          <a:blip r:embed="rId2"/>
          <a:stretch>
            <a:fillRect/>
          </a:stretch>
        </p:blipFill>
        <p:spPr>
          <a:xfrm>
            <a:off x="15240" y="1586865"/>
            <a:ext cx="12176125" cy="1751965"/>
          </a:xfrm>
          <a:prstGeom prst="rect">
            <a:avLst/>
          </a:prstGeom>
        </p:spPr>
      </p:pic>
      <p:graphicFrame>
        <p:nvGraphicFramePr>
          <p:cNvPr id="5" name="表格 4"/>
          <p:cNvGraphicFramePr/>
          <p:nvPr>
            <p:custDataLst>
              <p:tags r:id="rId3"/>
            </p:custDataLst>
          </p:nvPr>
        </p:nvGraphicFramePr>
        <p:xfrm>
          <a:off x="4934585" y="3338830"/>
          <a:ext cx="6993890" cy="3429000"/>
        </p:xfrm>
        <a:graphic>
          <a:graphicData uri="http://schemas.openxmlformats.org/drawingml/2006/table">
            <a:tbl>
              <a:tblPr firstRow="1" bandRow="1">
                <a:tableStyleId>{9DCAF9ED-07DC-4A11-8D7F-57B35C25682E}</a:tableStyleId>
              </a:tblPr>
              <a:tblGrid>
                <a:gridCol w="1214120"/>
                <a:gridCol w="3547745"/>
                <a:gridCol w="2232025"/>
              </a:tblGrid>
              <a:tr h="381000">
                <a:tc>
                  <a:txBody>
                    <a:bodyPr/>
                    <a:p>
                      <a:pPr algn="ctr">
                        <a:buNone/>
                      </a:pPr>
                      <a:r>
                        <a:rPr lang="en-US" altLang="zh-CN" sz="1400"/>
                        <a:t>Step</a:t>
                      </a:r>
                      <a:endParaRPr lang="en-US" altLang="zh-CN" sz="1400"/>
                    </a:p>
                  </a:txBody>
                  <a:tcPr/>
                </a:tc>
                <a:tc>
                  <a:txBody>
                    <a:bodyPr/>
                    <a:p>
                      <a:pPr algn="ctr">
                        <a:buNone/>
                      </a:pPr>
                      <a:r>
                        <a:rPr lang="en-US" altLang="zh-CN" sz="1400"/>
                        <a:t>Page</a:t>
                      </a:r>
                      <a:endParaRPr lang="en-US" altLang="zh-CN" sz="1400"/>
                    </a:p>
                  </a:txBody>
                  <a:tcPr/>
                </a:tc>
                <a:tc>
                  <a:txBody>
                    <a:bodyPr/>
                    <a:p>
                      <a:pPr algn="ctr">
                        <a:buNone/>
                      </a:pPr>
                      <a:r>
                        <a:rPr lang="en-US" altLang="zh-CN" sz="1400"/>
                        <a:t>FR satisfied</a:t>
                      </a:r>
                      <a:endParaRPr lang="en-US" altLang="zh-CN" sz="1400"/>
                    </a:p>
                  </a:txBody>
                  <a:tcPr/>
                </a:tc>
              </a:tr>
              <a:tr h="381000">
                <a:tc>
                  <a:txBody>
                    <a:bodyPr/>
                    <a:p>
                      <a:pPr algn="ctr">
                        <a:buNone/>
                      </a:pPr>
                      <a:r>
                        <a:rPr lang="en-US" altLang="zh-CN" sz="1400"/>
                        <a:t>1</a:t>
                      </a:r>
                      <a:endParaRPr lang="en-US" altLang="zh-CN" sz="1400"/>
                    </a:p>
                  </a:txBody>
                  <a:tcPr/>
                </a:tc>
                <a:tc>
                  <a:txBody>
                    <a:bodyPr/>
                    <a:p>
                      <a:pPr algn="ctr">
                        <a:buNone/>
                      </a:pPr>
                      <a:r>
                        <a:rPr lang="en-US" altLang="zh-CN" sz="1400"/>
                        <a:t>Requirement input</a:t>
                      </a:r>
                      <a:endParaRPr lang="en-US" altLang="zh-CN" sz="1400"/>
                    </a:p>
                  </a:txBody>
                  <a:tcPr/>
                </a:tc>
                <a:tc>
                  <a:txBody>
                    <a:bodyPr/>
                    <a:p>
                      <a:pPr algn="ctr">
                        <a:buNone/>
                      </a:pPr>
                      <a:r>
                        <a:rPr lang="en-US" altLang="zh-CN" sz="1400"/>
                        <a:t>FR 1.0</a:t>
                      </a:r>
                      <a:endParaRPr lang="en-US" altLang="zh-CN" sz="1400"/>
                    </a:p>
                  </a:txBody>
                  <a:tcPr/>
                </a:tc>
              </a:tr>
              <a:tr h="381000">
                <a:tc>
                  <a:txBody>
                    <a:bodyPr/>
                    <a:p>
                      <a:pPr algn="ctr">
                        <a:buNone/>
                      </a:pPr>
                      <a:r>
                        <a:rPr lang="en-US" altLang="zh-CN" sz="1400"/>
                        <a:t>2</a:t>
                      </a:r>
                      <a:endParaRPr lang="en-US" altLang="zh-CN" sz="1400"/>
                    </a:p>
                  </a:txBody>
                  <a:tcPr/>
                </a:tc>
                <a:tc>
                  <a:txBody>
                    <a:bodyPr/>
                    <a:p>
                      <a:pPr algn="ctr">
                        <a:buNone/>
                      </a:pPr>
                      <a:r>
                        <a:rPr lang="en-US" altLang="zh-CN" sz="1400"/>
                        <a:t>Structuring</a:t>
                      </a:r>
                      <a:endParaRPr lang="en-US" altLang="zh-CN" sz="1400"/>
                    </a:p>
                  </a:txBody>
                  <a:tcPr/>
                </a:tc>
                <a:tc>
                  <a:txBody>
                    <a:bodyPr/>
                    <a:p>
                      <a:pPr algn="ctr">
                        <a:buNone/>
                      </a:pPr>
                      <a:r>
                        <a:rPr lang="en-US" altLang="zh-CN" sz="1400"/>
                        <a:t>FR 1.1</a:t>
                      </a:r>
                      <a:endParaRPr lang="en-US" altLang="zh-CN" sz="1400"/>
                    </a:p>
                  </a:txBody>
                  <a:tcPr/>
                </a:tc>
              </a:tr>
              <a:tr h="381000">
                <a:tc>
                  <a:txBody>
                    <a:bodyPr/>
                    <a:p>
                      <a:pPr algn="ctr">
                        <a:buNone/>
                      </a:pPr>
                      <a:r>
                        <a:rPr lang="en-US" altLang="zh-CN" sz="1400"/>
                        <a:t>3</a:t>
                      </a:r>
                      <a:endParaRPr lang="en-US" altLang="zh-CN" sz="1400"/>
                    </a:p>
                  </a:txBody>
                  <a:tcPr/>
                </a:tc>
                <a:tc>
                  <a:txBody>
                    <a:bodyPr/>
                    <a:p>
                      <a:pPr algn="ctr">
                        <a:buNone/>
                      </a:pPr>
                      <a:r>
                        <a:rPr lang="en-US" altLang="zh-CN" sz="1400"/>
                        <a:t>Risk analysis</a:t>
                      </a:r>
                      <a:endParaRPr lang="en-US" altLang="zh-CN" sz="1400"/>
                    </a:p>
                  </a:txBody>
                  <a:tcPr/>
                </a:tc>
                <a:tc>
                  <a:txBody>
                    <a:bodyPr/>
                    <a:p>
                      <a:pPr algn="ctr">
                        <a:buNone/>
                      </a:pPr>
                      <a:r>
                        <a:rPr lang="en-US" altLang="zh-CN" sz="1400"/>
                        <a:t>FR 2.0</a:t>
                      </a:r>
                      <a:endParaRPr lang="en-US" altLang="zh-CN" sz="1400"/>
                    </a:p>
                  </a:txBody>
                  <a:tcPr/>
                </a:tc>
              </a:tr>
              <a:tr h="381000">
                <a:tc>
                  <a:txBody>
                    <a:bodyPr/>
                    <a:p>
                      <a:pPr algn="ctr">
                        <a:buNone/>
                      </a:pPr>
                      <a:r>
                        <a:rPr lang="en-US" altLang="zh-CN" sz="1400"/>
                        <a:t>4</a:t>
                      </a:r>
                      <a:endParaRPr lang="en-US" altLang="zh-CN" sz="1400"/>
                    </a:p>
                  </a:txBody>
                  <a:tcPr/>
                </a:tc>
                <a:tc>
                  <a:txBody>
                    <a:bodyPr/>
                    <a:p>
                      <a:pPr algn="ctr">
                        <a:buNone/>
                      </a:pPr>
                      <a:r>
                        <a:rPr lang="en-US" altLang="zh-CN" sz="1400"/>
                        <a:t>Coverage items</a:t>
                      </a:r>
                      <a:endParaRPr lang="en-US" altLang="zh-CN" sz="1400"/>
                    </a:p>
                  </a:txBody>
                  <a:tcPr/>
                </a:tc>
                <a:tc>
                  <a:txBody>
                    <a:bodyPr/>
                    <a:p>
                      <a:pPr algn="ctr">
                        <a:buNone/>
                      </a:pPr>
                      <a:r>
                        <a:rPr lang="en-US" altLang="zh-CN" sz="1400"/>
                        <a:t>FR 3.0 input</a:t>
                      </a:r>
                      <a:endParaRPr lang="en-US" altLang="zh-CN" sz="1400"/>
                    </a:p>
                  </a:txBody>
                  <a:tcPr/>
                </a:tc>
              </a:tr>
              <a:tr h="381000">
                <a:tc>
                  <a:txBody>
                    <a:bodyPr/>
                    <a:p>
                      <a:pPr algn="ctr">
                        <a:buNone/>
                      </a:pPr>
                      <a:r>
                        <a:rPr lang="en-US" altLang="zh-CN" sz="1400"/>
                        <a:t>5</a:t>
                      </a:r>
                      <a:endParaRPr lang="en-US" altLang="zh-CN" sz="1400"/>
                    </a:p>
                  </a:txBody>
                  <a:tcPr/>
                </a:tc>
                <a:tc>
                  <a:txBody>
                    <a:bodyPr/>
                    <a:p>
                      <a:pPr marL="0" algn="ctr" latinLnBrk="0">
                        <a:buClrTx/>
                        <a:buSzTx/>
                        <a:buFontTx/>
                      </a:pPr>
                      <a:r>
                        <a:rPr lang="en-US" altLang="zh-CN" sz="1400"/>
                        <a:t>Test cases + oracle + state coverage</a:t>
                      </a:r>
                      <a:endParaRPr lang="en-US" altLang="zh-CN" sz="1400"/>
                    </a:p>
                  </a:txBody>
                  <a:tcPr marL="165417" marR="165417" marT="76517" marB="76517" anchor="ctr" anchorCtr="0"/>
                </a:tc>
                <a:tc>
                  <a:txBody>
                    <a:bodyPr/>
                    <a:p>
                      <a:pPr marL="0" indent="0" latinLnBrk="0"/>
                      <a:r>
                        <a:rPr lang="en-US" altLang="zh-CN" sz="1400"/>
                        <a:t>FR 3.0 / 4.0 / 5.0</a:t>
                      </a:r>
                      <a:endParaRPr lang="en-US" altLang="zh-CN" sz="1400"/>
                    </a:p>
                  </a:txBody>
                  <a:tcPr marL="165417" marR="165417" marT="76517" marB="76517" anchor="ctr" anchorCtr="0"/>
                </a:tc>
              </a:tr>
              <a:tr h="381000">
                <a:tc>
                  <a:txBody>
                    <a:bodyPr/>
                    <a:p>
                      <a:pPr algn="ctr">
                        <a:buNone/>
                      </a:pPr>
                      <a:r>
                        <a:rPr lang="en-US" altLang="zh-CN" sz="1400"/>
                        <a:t>6</a:t>
                      </a:r>
                      <a:endParaRPr lang="en-US" altLang="zh-CN" sz="1400"/>
                    </a:p>
                  </a:txBody>
                  <a:tcPr/>
                </a:tc>
                <a:tc>
                  <a:txBody>
                    <a:bodyPr/>
                    <a:p>
                      <a:pPr algn="ctr">
                        <a:buNone/>
                      </a:pPr>
                      <a:r>
                        <a:rPr lang="en-US" altLang="zh-CN" sz="1400"/>
                        <a:t>Optimisation</a:t>
                      </a:r>
                      <a:endParaRPr lang="en-US" altLang="zh-CN" sz="1400"/>
                    </a:p>
                  </a:txBody>
                  <a:tcPr/>
                </a:tc>
                <a:tc>
                  <a:txBody>
                    <a:bodyPr/>
                    <a:p>
                      <a:pPr algn="ctr">
                        <a:buNone/>
                      </a:pPr>
                      <a:r>
                        <a:rPr lang="en-US" altLang="zh-CN" sz="1400"/>
                        <a:t>FR 7.0</a:t>
                      </a:r>
                      <a:endParaRPr lang="en-US" altLang="zh-CN" sz="1400"/>
                    </a:p>
                  </a:txBody>
                  <a:tcPr/>
                </a:tc>
              </a:tr>
              <a:tr h="381000">
                <a:tc>
                  <a:txBody>
                    <a:bodyPr/>
                    <a:p>
                      <a:pPr algn="ctr">
                        <a:buNone/>
                      </a:pPr>
                      <a:r>
                        <a:rPr lang="en-US" altLang="zh-CN" sz="1400"/>
                        <a:t>7</a:t>
                      </a:r>
                      <a:endParaRPr lang="en-US" altLang="zh-CN" sz="1400"/>
                    </a:p>
                  </a:txBody>
                  <a:tcPr/>
                </a:tc>
                <a:tc>
                  <a:txBody>
                    <a:bodyPr/>
                    <a:p>
                      <a:pPr algn="ctr">
                        <a:buNone/>
                      </a:pPr>
                      <a:r>
                        <a:rPr lang="en-US" altLang="zh-CN" sz="1400"/>
                        <a:t>Export</a:t>
                      </a:r>
                      <a:endParaRPr lang="en-US" altLang="zh-CN" sz="1400"/>
                    </a:p>
                  </a:txBody>
                  <a:tcPr/>
                </a:tc>
                <a:tc>
                  <a:txBody>
                    <a:bodyPr/>
                    <a:p>
                      <a:pPr algn="ctr">
                        <a:buNone/>
                      </a:pPr>
                      <a:r>
                        <a:rPr lang="en-US" altLang="zh-CN" sz="1400"/>
                        <a:t>FR 6.0</a:t>
                      </a:r>
                      <a:endParaRPr lang="en-US" altLang="zh-CN" sz="1400"/>
                    </a:p>
                  </a:txBody>
                  <a:tcPr/>
                </a:tc>
              </a:tr>
              <a:tr h="381000">
                <a:tc>
                  <a:txBody>
                    <a:bodyPr/>
                    <a:p>
                      <a:pPr algn="ctr">
                        <a:buNone/>
                      </a:pPr>
                      <a:r>
                        <a:rPr lang="en-US" altLang="zh-CN" sz="1400"/>
                        <a:t>8</a:t>
                      </a:r>
                      <a:endParaRPr lang="en-US" altLang="zh-CN" sz="1400"/>
                    </a:p>
                  </a:txBody>
                  <a:tcPr/>
                </a:tc>
                <a:tc>
                  <a:txBody>
                    <a:bodyPr/>
                    <a:p>
                      <a:pPr algn="ctr">
                        <a:buNone/>
                      </a:pPr>
                      <a:r>
                        <a:rPr lang="en-US" altLang="zh-CN" sz="1400"/>
                        <a:t>Run tests</a:t>
                      </a:r>
                      <a:endParaRPr lang="en-US" altLang="zh-CN" sz="1400"/>
                    </a:p>
                  </a:txBody>
                  <a:tcPr/>
                </a:tc>
                <a:tc>
                  <a:txBody>
                    <a:bodyPr/>
                    <a:p>
                      <a:pPr algn="ctr">
                        <a:buNone/>
                      </a:pPr>
                      <a:r>
                        <a:rPr lang="en-US" altLang="zh-CN" sz="1400"/>
                        <a:t>end-to-end execution</a:t>
                      </a:r>
                      <a:endParaRPr lang="en-US" altLang="zh-CN" sz="1400"/>
                    </a:p>
                  </a:txBody>
                  <a:tcPr/>
                </a:tc>
              </a:tr>
            </a:tbl>
          </a:graphicData>
        </a:graphic>
      </p:graphicFrame>
    </p:spTree>
    <p:custDataLst>
      <p:tags r:id="rId4"/>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6" name="图片 5" descr="q."/>
          <p:cNvPicPr>
            <a:picLocks noChangeAspect="1"/>
          </p:cNvPicPr>
          <p:nvPr/>
        </p:nvPicPr>
        <p:blipFill>
          <a:blip r:embed="rId1"/>
          <a:stretch>
            <a:fillRect/>
          </a:stretch>
        </p:blipFill>
        <p:spPr>
          <a:xfrm>
            <a:off x="635" y="0"/>
            <a:ext cx="12192000" cy="6858000"/>
          </a:xfrm>
          <a:prstGeom prst="rect">
            <a:avLst/>
          </a:prstGeom>
        </p:spPr>
      </p:pic>
      <p:sp>
        <p:nvSpPr>
          <p:cNvPr id="4" name="文本框 3"/>
          <p:cNvSpPr txBox="1"/>
          <p:nvPr/>
        </p:nvSpPr>
        <p:spPr>
          <a:xfrm>
            <a:off x="4610735" y="2623185"/>
            <a:ext cx="3112770" cy="1014730"/>
          </a:xfrm>
          <a:prstGeom prst="rect">
            <a:avLst/>
          </a:prstGeom>
          <a:noFill/>
        </p:spPr>
        <p:txBody>
          <a:bodyPr wrap="none" rtlCol="0">
            <a:spAutoFit/>
          </a:bodyPr>
          <a:p>
            <a:pPr algn="l"/>
            <a:r>
              <a:rPr lang="en-US" altLang="zh-CN" sz="6000">
                <a:solidFill>
                  <a:srgbClr val="846749"/>
                </a:solidFill>
                <a:latin typeface="思源宋体 CN Heavy" panose="02020900000000000000" charset="-122"/>
                <a:ea typeface="思源宋体 CN Heavy" panose="02020900000000000000" charset="-122"/>
                <a:cs typeface="HarmonyOS Sans SC Medium" panose="00000600000000000000" charset="-122"/>
              </a:rPr>
              <a:t>Chapter 3</a:t>
            </a:r>
            <a:endParaRPr lang="en-US" altLang="zh-CN" sz="60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sp>
        <p:nvSpPr>
          <p:cNvPr id="32" name="稻壳夜秋https://www.docer.com/works?userid=555357443"/>
          <p:cNvSpPr txBox="1"/>
          <p:nvPr/>
        </p:nvSpPr>
        <p:spPr>
          <a:xfrm>
            <a:off x="4350385" y="3803650"/>
            <a:ext cx="3632835" cy="460375"/>
          </a:xfrm>
          <a:prstGeom prst="rect">
            <a:avLst/>
          </a:prstGeom>
          <a:noFill/>
        </p:spPr>
        <p:txBody>
          <a:bodyPr wrap="square" rtlCol="0">
            <a:spAutoFit/>
          </a:bodyPr>
          <a:p>
            <a:pPr algn="ct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Test Design</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7" name="椭圆 6"/>
          <p:cNvSpPr/>
          <p:nvPr/>
        </p:nvSpPr>
        <p:spPr>
          <a:xfrm>
            <a:off x="3713480" y="1079500"/>
            <a:ext cx="4826000" cy="4826000"/>
          </a:xfrm>
          <a:prstGeom prst="ellipse">
            <a:avLst/>
          </a:prstGeom>
          <a:noFill/>
          <a:ln>
            <a:solidFill>
              <a:srgbClr val="846749">
                <a:alpha val="1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HarmonyOS Sans SC Medium" panose="00000600000000000000" charset="-122"/>
            </a:endParaRPr>
          </a:p>
        </p:txBody>
      </p:sp>
    </p:spTree>
    <p:custDataLst>
      <p:tags r:id="rId2"/>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2"/>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485900" y="434340"/>
            <a:ext cx="9187180"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Test Design —— </a:t>
            </a:r>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Black-Box Test Design</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 name="椭圆 2"/>
          <p:cNvSpPr/>
          <p:nvPr/>
        </p:nvSpPr>
        <p:spPr>
          <a:xfrm>
            <a:off x="704215" y="394335"/>
            <a:ext cx="705485" cy="705485"/>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latin typeface="HarmonyOS Sans SC Medium" panose="00000600000000000000" charset="-122"/>
              <a:ea typeface="HarmonyOS Sans SC Medium" panose="00000600000000000000" charset="-122"/>
              <a:cs typeface="HarmonyOS Sans SC Medium" panose="00000600000000000000" charset="-122"/>
            </a:endParaRPr>
          </a:p>
        </p:txBody>
      </p:sp>
      <p:sp>
        <p:nvSpPr>
          <p:cNvPr id="30" name="文本框 29"/>
          <p:cNvSpPr txBox="1"/>
          <p:nvPr/>
        </p:nvSpPr>
        <p:spPr>
          <a:xfrm>
            <a:off x="692785" y="434340"/>
            <a:ext cx="731520" cy="645160"/>
          </a:xfrm>
          <a:prstGeom prst="rect">
            <a:avLst/>
          </a:prstGeom>
          <a:noFill/>
        </p:spPr>
        <p:txBody>
          <a:bodyPr wrap="none" rtlCol="0">
            <a:spAutoFit/>
          </a:bodyPr>
          <a:p>
            <a:r>
              <a:rPr lang="en-US" altLang="zh-CN" sz="3600">
                <a:solidFill>
                  <a:schemeClr val="bg1"/>
                </a:solidFill>
                <a:cs typeface="HarmonyOS Sans SC Medium" panose="00000600000000000000" charset="-122"/>
              </a:rPr>
              <a:t>03</a:t>
            </a:r>
            <a:endParaRPr lang="en-US" altLang="zh-CN" sz="3600">
              <a:solidFill>
                <a:schemeClr val="bg1"/>
              </a:solidFill>
              <a:cs typeface="HarmonyOS Sans SC Medium" panose="00000600000000000000" charset="-122"/>
            </a:endParaRPr>
          </a:p>
        </p:txBody>
      </p:sp>
      <p:sp>
        <p:nvSpPr>
          <p:cNvPr id="8" name="文本框 7"/>
          <p:cNvSpPr txBox="1"/>
          <p:nvPr/>
        </p:nvSpPr>
        <p:spPr>
          <a:xfrm>
            <a:off x="6249353" y="1903095"/>
            <a:ext cx="2580005" cy="306705"/>
          </a:xfrm>
          <a:prstGeom prst="rect">
            <a:avLst/>
          </a:prstGeom>
          <a:noFill/>
        </p:spPr>
        <p:txBody>
          <a:bodyPr wrap="none" rtlCol="0" anchor="t">
            <a:spAutoFit/>
          </a:bodyPr>
          <a:p>
            <a:pPr algn="ctr"/>
            <a:r>
              <a:rPr lang="en-US" altLang="zh-CN" sz="1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Equivalence Partitioning (EP)</a:t>
            </a:r>
            <a:endParaRPr lang="en-US" altLang="zh-CN" sz="1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10" name="TextBox 11"/>
          <p:cNvSpPr/>
          <p:nvPr/>
        </p:nvSpPr>
        <p:spPr>
          <a:xfrm>
            <a:off x="6249670" y="2217420"/>
            <a:ext cx="5812155" cy="860425"/>
          </a:xfrm>
          <a:prstGeom prst="rect">
            <a:avLst/>
          </a:prstGeom>
          <a:noFill/>
          <a:ln w="9525">
            <a:noFill/>
          </a:ln>
        </p:spPr>
        <p:txBody>
          <a:bodyPr wrap="square">
            <a:spAutoFit/>
          </a:bodyPr>
          <a:p>
            <a:pPr indent="0" fontAlgn="auto">
              <a:lnSpc>
                <a:spcPts val="1200"/>
              </a:lnSpc>
            </a:pPr>
            <a:r>
              <a:rPr lang="en-US" altLang="zh-CN" sz="9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REQ-009 defines constraints on order quantity, which allows the input space to be divided into valid and invalid partitions. Valid inputs contain positive quantities that satisfy business constraints, while invalid inputs violate those constraints. A representative negative test case uses quantity = 0, which belongs to the invalid partition and should therefore be rejected by the system. This negative representative exposed the missing validation logic that later became Defect 1.</a:t>
            </a:r>
            <a:endParaRPr lang="en-US" altLang="zh-CN" sz="9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sp>
        <p:nvSpPr>
          <p:cNvPr id="11" name="文本框 10"/>
          <p:cNvSpPr txBox="1"/>
          <p:nvPr/>
        </p:nvSpPr>
        <p:spPr>
          <a:xfrm>
            <a:off x="6249353" y="3240405"/>
            <a:ext cx="2734945" cy="306705"/>
          </a:xfrm>
          <a:prstGeom prst="rect">
            <a:avLst/>
          </a:prstGeom>
          <a:noFill/>
        </p:spPr>
        <p:txBody>
          <a:bodyPr wrap="none" rtlCol="0" anchor="t">
            <a:spAutoFit/>
          </a:bodyPr>
          <a:p>
            <a:pPr algn="ctr">
              <a:buClrTx/>
              <a:buSzTx/>
              <a:buFontTx/>
            </a:pPr>
            <a:r>
              <a:rPr lang="en-US" altLang="zh-CN" sz="1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Boundary Value Analysis (BVA)</a:t>
            </a:r>
            <a:endParaRPr lang="en-US" altLang="zh-CN" sz="1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12" name="TextBox 11"/>
          <p:cNvSpPr/>
          <p:nvPr/>
        </p:nvSpPr>
        <p:spPr>
          <a:xfrm>
            <a:off x="6249670" y="3513455"/>
            <a:ext cx="5797550" cy="860425"/>
          </a:xfrm>
          <a:prstGeom prst="rect">
            <a:avLst/>
          </a:prstGeom>
          <a:noFill/>
          <a:ln w="9525">
            <a:noFill/>
          </a:ln>
        </p:spPr>
        <p:txBody>
          <a:bodyPr wrap="square">
            <a:spAutoFit/>
          </a:bodyPr>
          <a:p>
            <a:pPr algn="l">
              <a:lnSpc>
                <a:spcPts val="1200"/>
              </a:lnSpc>
              <a:buClrTx/>
              <a:buSzTx/>
              <a:buFontTx/>
            </a:pPr>
            <a:r>
              <a:rPr lang="en-US" altLang="zh-CN" sz="9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REQ-009 includes a numerical constraint where the requested quantity must not exceed available stock. Assuming stock equals 10, boundary testing focuses on values immediately around this limit. The generated boundary trio uses quantities 9, 10, and 11 to verify behavior below the limit, exactly at the limit, and above the limit respectively. This ensures validation logic behaves correctly around constraint boundaries rather than only for typical values.</a:t>
            </a:r>
            <a:endParaRPr lang="en-US" altLang="zh-CN" sz="9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sp>
        <p:nvSpPr>
          <p:cNvPr id="13" name="文本框 12"/>
          <p:cNvSpPr txBox="1"/>
          <p:nvPr/>
        </p:nvSpPr>
        <p:spPr>
          <a:xfrm>
            <a:off x="6249353" y="4558665"/>
            <a:ext cx="2484755" cy="306705"/>
          </a:xfrm>
          <a:prstGeom prst="rect">
            <a:avLst/>
          </a:prstGeom>
          <a:noFill/>
        </p:spPr>
        <p:txBody>
          <a:bodyPr wrap="none" rtlCol="0" anchor="t">
            <a:spAutoFit/>
          </a:bodyPr>
          <a:p>
            <a:pPr algn="ctr"/>
            <a:r>
              <a:rPr lang="en-US" altLang="zh-CN" sz="1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Decision Table Testing (DT)</a:t>
            </a:r>
            <a:endParaRPr lang="en-US" altLang="zh-CN" sz="1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14" name="TextBox 11"/>
          <p:cNvSpPr/>
          <p:nvPr/>
        </p:nvSpPr>
        <p:spPr>
          <a:xfrm>
            <a:off x="6249670" y="4853305"/>
            <a:ext cx="5707380" cy="860425"/>
          </a:xfrm>
          <a:prstGeom prst="rect">
            <a:avLst/>
          </a:prstGeom>
          <a:noFill/>
          <a:ln w="9525">
            <a:noFill/>
          </a:ln>
        </p:spPr>
        <p:txBody>
          <a:bodyPr wrap="square">
            <a:spAutoFit/>
          </a:bodyPr>
          <a:p>
            <a:pPr algn="l">
              <a:lnSpc>
                <a:spcPts val="1200"/>
              </a:lnSpc>
              <a:buClrTx/>
              <a:buSzTx/>
              <a:buFontTx/>
            </a:pPr>
            <a:r>
              <a:rPr lang="en-US" altLang="zh-CN" sz="9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Multi-item orders introduce combinations of constraints that cannot be captured by single-input testing alone. Decision Table Testing generates cases that combine conditions across order items. One representative scenario creates an order where the first item is valid while the second item is out of stock. This combination verifies whether partial execution incorrectly mutates system state and was later used to expose the atomicity defect.</a:t>
            </a:r>
            <a:endParaRPr lang="en-US" altLang="zh-CN" sz="9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grpSp>
        <p:nvGrpSpPr>
          <p:cNvPr id="17" name="组合 16"/>
          <p:cNvGrpSpPr/>
          <p:nvPr/>
        </p:nvGrpSpPr>
        <p:grpSpPr>
          <a:xfrm>
            <a:off x="5568950" y="2185035"/>
            <a:ext cx="583565" cy="583565"/>
            <a:chOff x="8220" y="2220"/>
            <a:chExt cx="919" cy="919"/>
          </a:xfrm>
        </p:grpSpPr>
        <p:sp>
          <p:nvSpPr>
            <p:cNvPr id="15" name="椭圆 14"/>
            <p:cNvSpPr/>
            <p:nvPr/>
          </p:nvSpPr>
          <p:spPr>
            <a:xfrm>
              <a:off x="8220" y="2220"/>
              <a:ext cx="919" cy="919"/>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HarmonyOS Sans SC Medium" panose="00000600000000000000" charset="-122"/>
              </a:endParaRPr>
            </a:p>
          </p:txBody>
        </p:sp>
        <p:sp>
          <p:nvSpPr>
            <p:cNvPr id="16" name="文本框 15"/>
            <p:cNvSpPr txBox="1"/>
            <p:nvPr/>
          </p:nvSpPr>
          <p:spPr>
            <a:xfrm>
              <a:off x="8294" y="2328"/>
              <a:ext cx="768" cy="725"/>
            </a:xfrm>
            <a:prstGeom prst="rect">
              <a:avLst/>
            </a:prstGeom>
            <a:noFill/>
          </p:spPr>
          <p:txBody>
            <a:bodyPr wrap="square" rtlCol="0">
              <a:spAutoFit/>
            </a:bodyPr>
            <a:p>
              <a:r>
                <a:rPr lang="en-US" altLang="zh-CN" sz="2400">
                  <a:solidFill>
                    <a:schemeClr val="bg1"/>
                  </a:solidFill>
                  <a:cs typeface="HarmonyOS Sans SC Medium" panose="00000600000000000000" charset="-122"/>
                </a:rPr>
                <a:t>01</a:t>
              </a:r>
              <a:endParaRPr lang="en-US" altLang="zh-CN" sz="2400">
                <a:solidFill>
                  <a:schemeClr val="bg1"/>
                </a:solidFill>
                <a:cs typeface="HarmonyOS Sans SC Medium" panose="00000600000000000000" charset="-122"/>
              </a:endParaRPr>
            </a:p>
          </p:txBody>
        </p:sp>
      </p:grpSp>
      <p:grpSp>
        <p:nvGrpSpPr>
          <p:cNvPr id="18" name="组合 17"/>
          <p:cNvGrpSpPr/>
          <p:nvPr/>
        </p:nvGrpSpPr>
        <p:grpSpPr>
          <a:xfrm>
            <a:off x="5568950" y="3513455"/>
            <a:ext cx="583565" cy="583565"/>
            <a:chOff x="8220" y="2220"/>
            <a:chExt cx="919" cy="919"/>
          </a:xfrm>
        </p:grpSpPr>
        <p:sp>
          <p:nvSpPr>
            <p:cNvPr id="19" name="椭圆 18"/>
            <p:cNvSpPr/>
            <p:nvPr/>
          </p:nvSpPr>
          <p:spPr>
            <a:xfrm>
              <a:off x="8220" y="2220"/>
              <a:ext cx="919" cy="919"/>
            </a:xfrm>
            <a:prstGeom prst="ellipse">
              <a:avLst/>
            </a:prstGeom>
            <a:solidFill>
              <a:srgbClr val="D36B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HarmonyOS Sans SC Medium" panose="00000600000000000000" charset="-122"/>
              </a:endParaRPr>
            </a:p>
          </p:txBody>
        </p:sp>
        <p:sp>
          <p:nvSpPr>
            <p:cNvPr id="20" name="文本框 19"/>
            <p:cNvSpPr txBox="1"/>
            <p:nvPr/>
          </p:nvSpPr>
          <p:spPr>
            <a:xfrm>
              <a:off x="8241" y="2342"/>
              <a:ext cx="864" cy="725"/>
            </a:xfrm>
            <a:prstGeom prst="rect">
              <a:avLst/>
            </a:prstGeom>
            <a:noFill/>
          </p:spPr>
          <p:txBody>
            <a:bodyPr wrap="none" rtlCol="0">
              <a:spAutoFit/>
            </a:bodyPr>
            <a:p>
              <a:pPr algn="l">
                <a:buClrTx/>
                <a:buSzTx/>
                <a:buFontTx/>
              </a:pPr>
              <a:r>
                <a:rPr lang="en-US" altLang="zh-CN" sz="2400">
                  <a:solidFill>
                    <a:schemeClr val="bg1"/>
                  </a:solidFill>
                  <a:cs typeface="HarmonyOS Sans SC Medium" panose="00000600000000000000" charset="-122"/>
                </a:rPr>
                <a:t>02</a:t>
              </a:r>
              <a:endParaRPr lang="en-US" altLang="zh-CN" sz="2400">
                <a:solidFill>
                  <a:schemeClr val="bg1"/>
                </a:solidFill>
                <a:cs typeface="HarmonyOS Sans SC Medium" panose="00000600000000000000" charset="-122"/>
              </a:endParaRPr>
            </a:p>
          </p:txBody>
        </p:sp>
      </p:grpSp>
      <p:graphicFrame>
        <p:nvGraphicFramePr>
          <p:cNvPr id="4" name="表格 3"/>
          <p:cNvGraphicFramePr/>
          <p:nvPr>
            <p:custDataLst>
              <p:tags r:id="rId2"/>
            </p:custDataLst>
          </p:nvPr>
        </p:nvGraphicFramePr>
        <p:xfrm>
          <a:off x="555625" y="1753870"/>
          <a:ext cx="4791710" cy="2156460"/>
        </p:xfrm>
        <a:graphic>
          <a:graphicData uri="http://schemas.openxmlformats.org/drawingml/2006/table">
            <a:tbl>
              <a:tblPr firstRow="1" bandRow="1">
                <a:tableStyleId>{BC89EF96-8CEA-46FF-86C4-4CE0E7609802}</a:tableStyleId>
              </a:tblPr>
              <a:tblGrid>
                <a:gridCol w="1628775"/>
                <a:gridCol w="1565910"/>
                <a:gridCol w="1597025"/>
              </a:tblGrid>
              <a:tr h="447040">
                <a:tc>
                  <a:txBody>
                    <a:bodyPr/>
                    <a:p>
                      <a:pPr algn="ctr">
                        <a:buNone/>
                      </a:pPr>
                      <a:r>
                        <a:rPr lang="en-US" altLang="zh-CN" sz="1200"/>
                        <a:t>Coverage type</a:t>
                      </a:r>
                      <a:endParaRPr lang="en-US" altLang="zh-CN" sz="1200"/>
                    </a:p>
                  </a:txBody>
                  <a:tcPr anchor="ctr" anchorCtr="0"/>
                </a:tc>
                <a:tc>
                  <a:txBody>
                    <a:bodyPr/>
                    <a:p>
                      <a:pPr algn="ctr">
                        <a:buNone/>
                      </a:pPr>
                      <a:r>
                        <a:rPr lang="en-US" altLang="zh-CN" sz="1200"/>
                        <a:t>Technique</a:t>
                      </a:r>
                      <a:endParaRPr lang="en-US" altLang="zh-CN" sz="1200"/>
                    </a:p>
                  </a:txBody>
                  <a:tcPr anchor="ctr" anchorCtr="0"/>
                </a:tc>
                <a:tc>
                  <a:txBody>
                    <a:bodyPr/>
                    <a:p>
                      <a:pPr algn="ctr">
                        <a:buNone/>
                      </a:pPr>
                      <a:r>
                        <a:rPr lang="en-US" altLang="zh-CN" sz="1200"/>
                        <a:t>Rule</a:t>
                      </a:r>
                      <a:endParaRPr lang="en-US" altLang="zh-CN" sz="1200"/>
                    </a:p>
                  </a:txBody>
                  <a:tcPr anchor="ctr" anchorCtr="0"/>
                </a:tc>
              </a:tr>
              <a:tr h="569595">
                <a:tc>
                  <a:txBody>
                    <a:bodyPr/>
                    <a:p>
                      <a:pPr algn="ctr">
                        <a:buNone/>
                      </a:pPr>
                      <a:r>
                        <a:rPr lang="en-US" altLang="zh-CN" sz="1200"/>
                        <a:t>positive / negative</a:t>
                      </a:r>
                      <a:endParaRPr lang="en-US" altLang="zh-CN" sz="1200"/>
                    </a:p>
                  </a:txBody>
                  <a:tcPr anchor="ctr" anchorCtr="0"/>
                </a:tc>
                <a:tc>
                  <a:txBody>
                    <a:bodyPr/>
                    <a:p>
                      <a:pPr algn="ctr">
                        <a:buNone/>
                      </a:pPr>
                      <a:r>
                        <a:rPr lang="en-US" altLang="zh-CN" sz="1200"/>
                        <a:t>Equivalence Partitioning (EP)</a:t>
                      </a:r>
                      <a:endParaRPr lang="en-US" altLang="zh-CN" sz="1200"/>
                    </a:p>
                  </a:txBody>
                  <a:tcPr anchor="ctr" anchorCtr="0"/>
                </a:tc>
                <a:tc>
                  <a:txBody>
                    <a:bodyPr/>
                    <a:p>
                      <a:pPr algn="ctr">
                        <a:buNone/>
                      </a:pPr>
                      <a:r>
                        <a:rPr lang="en-US" altLang="zh-CN" sz="1200"/>
                        <a:t>one representative per class</a:t>
                      </a:r>
                      <a:endParaRPr lang="en-US" altLang="zh-CN" sz="1200"/>
                    </a:p>
                  </a:txBody>
                  <a:tcPr anchor="ctr" anchorCtr="0"/>
                </a:tc>
              </a:tr>
              <a:tr h="570230">
                <a:tc>
                  <a:txBody>
                    <a:bodyPr/>
                    <a:p>
                      <a:pPr algn="ctr">
                        <a:buNone/>
                      </a:pPr>
                      <a:r>
                        <a:rPr lang="en-US" altLang="zh-CN" sz="1200"/>
                        <a:t>boundary</a:t>
                      </a:r>
                      <a:endParaRPr lang="en-US" altLang="zh-CN" sz="1200"/>
                    </a:p>
                  </a:txBody>
                  <a:tcPr anchor="ctr" anchorCtr="0"/>
                </a:tc>
                <a:tc>
                  <a:txBody>
                    <a:bodyPr/>
                    <a:p>
                      <a:pPr algn="ctr">
                        <a:buNone/>
                      </a:pPr>
                      <a:r>
                        <a:rPr lang="en-US" altLang="zh-CN" sz="1200"/>
                        <a:t>Boundary Value Analysis (BVA)</a:t>
                      </a:r>
                      <a:endParaRPr lang="en-US" altLang="zh-CN" sz="1200"/>
                    </a:p>
                  </a:txBody>
                  <a:tcPr anchor="ctr" anchorCtr="0"/>
                </a:tc>
                <a:tc>
                  <a:txBody>
                    <a:bodyPr/>
                    <a:p>
                      <a:pPr algn="ctr">
                        <a:buNone/>
                      </a:pPr>
                      <a:r>
                        <a:rPr lang="en-US" altLang="zh-CN" sz="1200"/>
                        <a:t>values on and around the limit</a:t>
                      </a:r>
                      <a:endParaRPr lang="en-US" altLang="zh-CN" sz="1200"/>
                    </a:p>
                  </a:txBody>
                  <a:tcPr anchor="ctr" anchorCtr="0"/>
                </a:tc>
              </a:tr>
              <a:tr h="569595">
                <a:tc>
                  <a:txBody>
                    <a:bodyPr/>
                    <a:p>
                      <a:pPr algn="ctr">
                        <a:buNone/>
                      </a:pPr>
                      <a:r>
                        <a:rPr lang="en-US" altLang="zh-CN" sz="1200"/>
                        <a:t>multi-condition</a:t>
                      </a:r>
                      <a:endParaRPr lang="en-US" altLang="zh-CN" sz="1200"/>
                    </a:p>
                  </a:txBody>
                  <a:tcPr anchor="ctr" anchorCtr="0"/>
                </a:tc>
                <a:tc>
                  <a:txBody>
                    <a:bodyPr/>
                    <a:p>
                      <a:pPr algn="ctr">
                        <a:buNone/>
                      </a:pPr>
                      <a:r>
                        <a:rPr lang="en-US" altLang="zh-CN" sz="1200"/>
                        <a:t>Decision Table Testing (DT)</a:t>
                      </a:r>
                      <a:endParaRPr lang="en-US" altLang="zh-CN" sz="1200"/>
                    </a:p>
                  </a:txBody>
                  <a:tcPr anchor="ctr" anchorCtr="0"/>
                </a:tc>
                <a:tc>
                  <a:txBody>
                    <a:bodyPr/>
                    <a:p>
                      <a:pPr algn="ctr">
                        <a:buNone/>
                      </a:pPr>
                      <a:r>
                        <a:rPr lang="en-US" altLang="zh-CN" sz="1200"/>
                        <a:t>combinations across constraints</a:t>
                      </a:r>
                      <a:endParaRPr lang="en-US" altLang="zh-CN" sz="1200"/>
                    </a:p>
                  </a:txBody>
                  <a:tcPr anchor="ctr" anchorCtr="0"/>
                </a:tc>
              </a:tr>
            </a:tbl>
          </a:graphicData>
        </a:graphic>
      </p:graphicFrame>
      <p:sp>
        <p:nvSpPr>
          <p:cNvPr id="9" name="文本框 8"/>
          <p:cNvSpPr txBox="1"/>
          <p:nvPr/>
        </p:nvSpPr>
        <p:spPr>
          <a:xfrm>
            <a:off x="555625" y="1385570"/>
            <a:ext cx="2724150" cy="368300"/>
          </a:xfrm>
          <a:prstGeom prst="rect">
            <a:avLst/>
          </a:prstGeom>
        </p:spPr>
        <p:txBody>
          <a:bodyPr wrap="square">
            <a:spAutoFit/>
          </a:bodyPr>
          <a:p>
            <a:pPr algn="l">
              <a:lnSpc>
                <a:spcPct val="100000"/>
              </a:lnSpc>
              <a:buClrTx/>
              <a:buSzTx/>
              <a:buFontTx/>
            </a:pPr>
            <a:r>
              <a:rPr lang="zh-CN" altLang="en-US" b="0">
                <a:solidFill>
                  <a:srgbClr val="846749"/>
                </a:solidFill>
                <a:latin typeface="HarmonyOS Sans SC Medium" panose="00000600000000000000" charset="-122"/>
                <a:ea typeface="HarmonyOS Sans SC Medium" panose="00000600000000000000" charset="-122"/>
                <a:cs typeface="HarmonyOS Sans SC Medium" panose="00000600000000000000" charset="-122"/>
              </a:rPr>
              <a:t>Technique map</a:t>
            </a:r>
            <a:endParaRPr lang="zh-CN" altLang="en-US" b="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24" name="文本框 23"/>
          <p:cNvSpPr txBox="1"/>
          <p:nvPr/>
        </p:nvSpPr>
        <p:spPr>
          <a:xfrm>
            <a:off x="5568950" y="1432560"/>
            <a:ext cx="6584315" cy="337185"/>
          </a:xfrm>
          <a:prstGeom prst="rect">
            <a:avLst/>
          </a:prstGeom>
        </p:spPr>
        <p:txBody>
          <a:bodyPr wrap="square">
            <a:spAutoFit/>
          </a:bodyPr>
          <a:p>
            <a:pPr algn="l">
              <a:lnSpc>
                <a:spcPct val="100000"/>
              </a:lnSpc>
              <a:buClrTx/>
              <a:buSzTx/>
              <a:buFontTx/>
            </a:pPr>
            <a:r>
              <a:rPr lang="en-US" altLang="zh-CN" sz="1600" b="0">
                <a:solidFill>
                  <a:srgbClr val="846749"/>
                </a:solidFill>
                <a:latin typeface="HarmonyOS Sans SC Medium" panose="00000600000000000000" charset="-122"/>
                <a:ea typeface="HarmonyOS Sans SC Medium" panose="00000600000000000000" charset="-122"/>
                <a:cs typeface="HarmonyOS Sans SC Medium" panose="00000600000000000000" charset="-122"/>
              </a:rPr>
              <a:t>Worked example —— REQ-009 (quantity ≤ stock, stock = 10) </a:t>
            </a:r>
            <a:endParaRPr lang="en-US" altLang="zh-CN" sz="1600" b="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grpSp>
        <p:nvGrpSpPr>
          <p:cNvPr id="25" name="组合 24"/>
          <p:cNvGrpSpPr/>
          <p:nvPr/>
        </p:nvGrpSpPr>
        <p:grpSpPr>
          <a:xfrm>
            <a:off x="5568950" y="4827270"/>
            <a:ext cx="605155" cy="583565"/>
            <a:chOff x="8220" y="2220"/>
            <a:chExt cx="953" cy="919"/>
          </a:xfrm>
        </p:grpSpPr>
        <p:sp>
          <p:nvSpPr>
            <p:cNvPr id="26" name="椭圆 25"/>
            <p:cNvSpPr/>
            <p:nvPr/>
          </p:nvSpPr>
          <p:spPr>
            <a:xfrm>
              <a:off x="8220" y="2220"/>
              <a:ext cx="919" cy="919"/>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HarmonyOS Sans SC Medium" panose="00000600000000000000" charset="-122"/>
              </a:endParaRPr>
            </a:p>
          </p:txBody>
        </p:sp>
        <p:sp>
          <p:nvSpPr>
            <p:cNvPr id="27" name="文本框 26"/>
            <p:cNvSpPr txBox="1"/>
            <p:nvPr/>
          </p:nvSpPr>
          <p:spPr>
            <a:xfrm>
              <a:off x="8255" y="2325"/>
              <a:ext cx="918" cy="725"/>
            </a:xfrm>
            <a:prstGeom prst="rect">
              <a:avLst/>
            </a:prstGeom>
            <a:noFill/>
          </p:spPr>
          <p:txBody>
            <a:bodyPr wrap="square" rtlCol="0">
              <a:spAutoFit/>
            </a:bodyPr>
            <a:p>
              <a:r>
                <a:rPr lang="en-US" altLang="zh-CN" sz="2400">
                  <a:solidFill>
                    <a:schemeClr val="bg1"/>
                  </a:solidFill>
                  <a:cs typeface="HarmonyOS Sans SC Medium" panose="00000600000000000000" charset="-122"/>
                </a:rPr>
                <a:t>03</a:t>
              </a:r>
              <a:endParaRPr lang="en-US" altLang="zh-CN" sz="2400">
                <a:solidFill>
                  <a:schemeClr val="bg1"/>
                </a:solidFill>
                <a:cs typeface="HarmonyOS Sans SC Medium" panose="00000600000000000000" charset="-122"/>
              </a:endParaRPr>
            </a:p>
          </p:txBody>
        </p:sp>
      </p:grpSp>
      <p:sp>
        <p:nvSpPr>
          <p:cNvPr id="40" name="TextBox 11"/>
          <p:cNvSpPr/>
          <p:nvPr/>
        </p:nvSpPr>
        <p:spPr>
          <a:xfrm>
            <a:off x="555625" y="4051300"/>
            <a:ext cx="4791710" cy="1753235"/>
          </a:xfrm>
          <a:prstGeom prst="rect">
            <a:avLst/>
          </a:prstGeom>
          <a:noFill/>
          <a:ln w="9525">
            <a:noFill/>
          </a:ln>
        </p:spPr>
        <p:txBody>
          <a:bodyPr wrap="square">
            <a:spAutoFit/>
          </a:bodyPr>
          <a:p>
            <a:pPr>
              <a:lnSpc>
                <a:spcPct val="150000"/>
              </a:lnSpc>
              <a:buClr>
                <a:srgbClr val="E36C09"/>
              </a:buCl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Different coverage goals require different test design techniques. Equivalence Partitioning is used to cover positive and negative behaviours by selecting representative values from each class. Boundary Value Analysis targets values at and around limits, while Decision Table Testing focuses on combinations across multiple constraints.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cxnSp>
        <p:nvCxnSpPr>
          <p:cNvPr id="28" name="直接连接符 27"/>
          <p:cNvCxnSpPr/>
          <p:nvPr/>
        </p:nvCxnSpPr>
        <p:spPr>
          <a:xfrm rot="16200000">
            <a:off x="3249540" y="3590535"/>
            <a:ext cx="4428000" cy="0"/>
          </a:xfrm>
          <a:prstGeom prst="line">
            <a:avLst/>
          </a:prstGeom>
          <a:ln w="6350" cap="flat" cmpd="sng" algn="ctr">
            <a:solidFill>
              <a:srgbClr val="846749"/>
            </a:solidFill>
            <a:prstDash val="dash"/>
            <a:miter lim="800000"/>
          </a:ln>
        </p:spPr>
        <p:style>
          <a:lnRef idx="0">
            <a:schemeClr val="accent1"/>
          </a:lnRef>
          <a:fillRef idx="0">
            <a:srgbClr val="FFFFFF"/>
          </a:fillRef>
          <a:effectRef idx="0">
            <a:srgbClr val="FFFFFF"/>
          </a:effectRef>
          <a:fontRef idx="minor">
            <a:schemeClr val="tx1"/>
          </a:fontRef>
        </p:style>
      </p:cxnSp>
    </p:spTree>
    <p:custDataLst>
      <p:tags r:id="rId3"/>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2"/>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485900" y="440690"/>
            <a:ext cx="8406130" cy="583565"/>
          </a:xfrm>
          <a:prstGeom prst="rect">
            <a:avLst/>
          </a:prstGeom>
          <a:noFill/>
        </p:spPr>
        <p:txBody>
          <a:bodyPr wrap="square" rtlCol="0">
            <a:spAutoFit/>
          </a:bodyPr>
          <a:p>
            <a:pPr algn="l">
              <a:buClrTx/>
              <a:buSzTx/>
              <a:buFontTx/>
            </a:pPr>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Test Design —— </a:t>
            </a:r>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White-Box </a:t>
            </a:r>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Test Design</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 name="椭圆 2"/>
          <p:cNvSpPr/>
          <p:nvPr/>
        </p:nvSpPr>
        <p:spPr>
          <a:xfrm>
            <a:off x="704215" y="394335"/>
            <a:ext cx="705485" cy="705485"/>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latin typeface="HarmonyOS Sans SC Medium" panose="00000600000000000000" charset="-122"/>
              <a:ea typeface="HarmonyOS Sans SC Medium" panose="00000600000000000000" charset="-122"/>
              <a:cs typeface="HarmonyOS Sans SC Medium" panose="00000600000000000000" charset="-122"/>
            </a:endParaRPr>
          </a:p>
        </p:txBody>
      </p:sp>
      <p:sp>
        <p:nvSpPr>
          <p:cNvPr id="30" name="文本框 29"/>
          <p:cNvSpPr txBox="1"/>
          <p:nvPr/>
        </p:nvSpPr>
        <p:spPr>
          <a:xfrm>
            <a:off x="688975" y="434975"/>
            <a:ext cx="731520" cy="645160"/>
          </a:xfrm>
          <a:prstGeom prst="rect">
            <a:avLst/>
          </a:prstGeom>
          <a:noFill/>
        </p:spPr>
        <p:txBody>
          <a:bodyPr wrap="none" rtlCol="0">
            <a:spAutoFit/>
          </a:bodyPr>
          <a:p>
            <a:r>
              <a:rPr lang="en-US" altLang="zh-CN" sz="3600">
                <a:solidFill>
                  <a:schemeClr val="bg1"/>
                </a:solidFill>
                <a:cs typeface="HarmonyOS Sans SC Medium" panose="00000600000000000000" charset="-122"/>
              </a:rPr>
              <a:t>03</a:t>
            </a:r>
            <a:endParaRPr lang="en-US" altLang="zh-CN" sz="3600">
              <a:solidFill>
                <a:schemeClr val="bg1"/>
              </a:solidFill>
              <a:cs typeface="HarmonyOS Sans SC Medium" panose="00000600000000000000" charset="-122"/>
            </a:endParaRPr>
          </a:p>
        </p:txBody>
      </p:sp>
      <p:sp>
        <p:nvSpPr>
          <p:cNvPr id="10" name="TextBox 11"/>
          <p:cNvSpPr/>
          <p:nvPr/>
        </p:nvSpPr>
        <p:spPr>
          <a:xfrm>
            <a:off x="555625" y="1553845"/>
            <a:ext cx="5399405" cy="4292600"/>
          </a:xfrm>
          <a:prstGeom prst="rect">
            <a:avLst/>
          </a:prstGeom>
          <a:noFill/>
          <a:ln w="9525">
            <a:noFill/>
          </a:ln>
        </p:spPr>
        <p:txBody>
          <a:bodyPr wrap="square">
            <a:spAutoFit/>
          </a:bodyPr>
          <a:p>
            <a:pPr algn="l" fontAlgn="auto">
              <a:lnSpc>
                <a:spcPct val="150000"/>
              </a:lnSpc>
              <a:buClr>
                <a:srgbClr val="E36C09"/>
              </a:buClr>
              <a:buSzTx/>
              <a:buFontTx/>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White-box testing designs tests using knowledge of the system’s internal structure rather than relying only on input-output behaviour. Instead of checking whether functionality works externally, it focuses on verifying internal logic, execution paths, and state changes inside the implementation.</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gn="l" fontAlgn="auto">
              <a:lnSpc>
                <a:spcPct val="150000"/>
              </a:lnSpc>
              <a:buClr>
                <a:srgbClr val="E36C09"/>
              </a:buClr>
              <a:buSzTx/>
              <a:buFontTx/>
            </a:pP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gn="l" fontAlgn="auto">
              <a:lnSpc>
                <a:spcPct val="150000"/>
              </a:lnSpc>
              <a:buClr>
                <a:srgbClr val="E36C09"/>
              </a:buClr>
              <a:buSzTx/>
              <a:buFontTx/>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Some behaviours cannot be validated using isolated inputs alone because correctness depends on previous operations and current system state. Order processing is one such example: the validity of an action depends on the order’s existing status. In this example,completed and cancelled are terminal states and therefore should reject further status changes. </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pic>
        <p:nvPicPr>
          <p:cNvPr id="4" name="图片 3" descr="截屏2026-05-30 15.53.58"/>
          <p:cNvPicPr>
            <a:picLocks noChangeAspect="1"/>
          </p:cNvPicPr>
          <p:nvPr/>
        </p:nvPicPr>
        <p:blipFill>
          <a:blip r:embed="rId2"/>
          <a:stretch>
            <a:fillRect/>
          </a:stretch>
        </p:blipFill>
        <p:spPr>
          <a:xfrm>
            <a:off x="6323965" y="2797175"/>
            <a:ext cx="5400040" cy="1263650"/>
          </a:xfrm>
          <a:prstGeom prst="rect">
            <a:avLst/>
          </a:prstGeom>
        </p:spPr>
      </p:pic>
      <p:sp>
        <p:nvSpPr>
          <p:cNvPr id="5" name="文本框 4"/>
          <p:cNvSpPr txBox="1"/>
          <p:nvPr/>
        </p:nvSpPr>
        <p:spPr>
          <a:xfrm>
            <a:off x="7774305" y="4180205"/>
            <a:ext cx="2724150" cy="368300"/>
          </a:xfrm>
          <a:prstGeom prst="rect">
            <a:avLst/>
          </a:prstGeom>
        </p:spPr>
        <p:txBody>
          <a:bodyPr wrap="square">
            <a:spAutoFit/>
          </a:bodyPr>
          <a:p>
            <a:pPr algn="ctr">
              <a:lnSpc>
                <a:spcPct val="100000"/>
              </a:lnSpc>
              <a:buClrTx/>
              <a:buSzTx/>
              <a:buFontTx/>
            </a:pPr>
            <a:r>
              <a:rPr lang="en-US" altLang="zh-CN" b="0">
                <a:solidFill>
                  <a:srgbClr val="846749"/>
                </a:solidFill>
                <a:latin typeface="HarmonyOS Sans SC Medium" panose="00000600000000000000" charset="-122"/>
                <a:ea typeface="HarmonyOS Sans SC Medium" panose="00000600000000000000" charset="-122"/>
                <a:cs typeface="HarmonyOS Sans SC Medium" panose="00000600000000000000" charset="-122"/>
              </a:rPr>
              <a:t>Order Status Machin</a:t>
            </a:r>
            <a:r>
              <a:rPr lang="en-US" altLang="zh-CN" b="0">
                <a:solidFill>
                  <a:srgbClr val="846749"/>
                </a:solidFill>
                <a:latin typeface="HarmonyOS Sans SC Medium" panose="00000600000000000000" charset="-122"/>
                <a:ea typeface="HarmonyOS Sans SC Medium" panose="00000600000000000000" charset="-122"/>
                <a:cs typeface="HarmonyOS Sans SC Medium" panose="00000600000000000000" charset="-122"/>
              </a:rPr>
              <a:t>e</a:t>
            </a:r>
            <a:endParaRPr lang="en-US" altLang="zh-CN" b="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Tree>
    <p:custDataLst>
      <p:tags r:id="rId3"/>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2"/>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485900" y="440690"/>
            <a:ext cx="8406130" cy="583565"/>
          </a:xfrm>
          <a:prstGeom prst="rect">
            <a:avLst/>
          </a:prstGeom>
          <a:noFill/>
        </p:spPr>
        <p:txBody>
          <a:bodyPr wrap="square" rtlCol="0">
            <a:spAutoFit/>
          </a:bodyPr>
          <a:p>
            <a:pPr algn="l">
              <a:buClrTx/>
              <a:buSzTx/>
              <a:buFontTx/>
            </a:pPr>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Test Design —— Oracle</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 name="椭圆 2"/>
          <p:cNvSpPr/>
          <p:nvPr/>
        </p:nvSpPr>
        <p:spPr>
          <a:xfrm>
            <a:off x="704215" y="394335"/>
            <a:ext cx="705485" cy="705485"/>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latin typeface="HarmonyOS Sans SC Medium" panose="00000600000000000000" charset="-122"/>
              <a:ea typeface="HarmonyOS Sans SC Medium" panose="00000600000000000000" charset="-122"/>
              <a:cs typeface="HarmonyOS Sans SC Medium" panose="00000600000000000000" charset="-122"/>
            </a:endParaRPr>
          </a:p>
        </p:txBody>
      </p:sp>
      <p:sp>
        <p:nvSpPr>
          <p:cNvPr id="30" name="文本框 29"/>
          <p:cNvSpPr txBox="1"/>
          <p:nvPr/>
        </p:nvSpPr>
        <p:spPr>
          <a:xfrm>
            <a:off x="688975" y="434975"/>
            <a:ext cx="731520" cy="645160"/>
          </a:xfrm>
          <a:prstGeom prst="rect">
            <a:avLst/>
          </a:prstGeom>
          <a:noFill/>
        </p:spPr>
        <p:txBody>
          <a:bodyPr wrap="none" rtlCol="0">
            <a:spAutoFit/>
          </a:bodyPr>
          <a:p>
            <a:r>
              <a:rPr lang="en-US" altLang="zh-CN" sz="3600">
                <a:solidFill>
                  <a:schemeClr val="bg1"/>
                </a:solidFill>
                <a:cs typeface="HarmonyOS Sans SC Medium" panose="00000600000000000000" charset="-122"/>
              </a:rPr>
              <a:t>03</a:t>
            </a:r>
            <a:endParaRPr lang="en-US" altLang="zh-CN" sz="3600">
              <a:solidFill>
                <a:schemeClr val="bg1"/>
              </a:solidFill>
              <a:cs typeface="HarmonyOS Sans SC Medium" panose="00000600000000000000" charset="-122"/>
            </a:endParaRPr>
          </a:p>
        </p:txBody>
      </p:sp>
      <p:sp>
        <p:nvSpPr>
          <p:cNvPr id="10" name="TextBox 11"/>
          <p:cNvSpPr/>
          <p:nvPr/>
        </p:nvSpPr>
        <p:spPr>
          <a:xfrm>
            <a:off x="555625" y="1605915"/>
            <a:ext cx="5842000" cy="3646170"/>
          </a:xfrm>
          <a:prstGeom prst="rect">
            <a:avLst/>
          </a:prstGeom>
          <a:noFill/>
          <a:ln w="9525">
            <a:noFill/>
          </a:ln>
        </p:spPr>
        <p:txBody>
          <a:bodyPr wrap="square">
            <a:spAutoFit/>
          </a:bodyPr>
          <a:p>
            <a:pPr algn="l" fontAlgn="auto">
              <a:lnSpc>
                <a:spcPct val="150000"/>
              </a:lnSpc>
              <a:buClr>
                <a:srgbClr val="E36C09"/>
              </a:buClr>
              <a:buSzTx/>
              <a:buFontTx/>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In our project, each generated test case is attached with a structured oracle describing expected behaviour after execution.</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gn="l" fontAlgn="auto">
              <a:lnSpc>
                <a:spcPct val="150000"/>
              </a:lnSpc>
              <a:buClr>
                <a:srgbClr val="E36C09"/>
              </a:buClr>
              <a:buSzTx/>
              <a:buFontTx/>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The oracle supports multiple validation dimensions:</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gn="l" fontAlgn="auto">
              <a:lnSpc>
                <a:spcPct val="150000"/>
              </a:lnSpc>
              <a:buClr>
                <a:srgbClr val="E36C09"/>
              </a:buClr>
              <a:buSzTx/>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HTTP Status Validation</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 verifies whether returned status codes fall within the expected range</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gn="l" fontAlgn="auto">
              <a:lnSpc>
                <a:spcPct val="150000"/>
              </a:lnSpc>
              <a:buClr>
                <a:srgbClr val="E36C09"/>
              </a:buClr>
              <a:buSzTx/>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Response Content Validation</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 checks whether required or forbidden keywords appear in responses</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gn="l" fontAlgn="auto">
              <a:lnSpc>
                <a:spcPct val="150000"/>
              </a:lnSpc>
              <a:buClr>
                <a:srgbClr val="E36C09"/>
              </a:buClr>
              <a:buSzTx/>
              <a:buFont typeface="Arial" panose="020B0604020202090204" pitchFamily="34" charset="0"/>
              <a:buChar char="•"/>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Side-Effect Validation</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 validates system state changes such as inventory updates, rollback behaviour, or database mutations</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gn="l" fontAlgn="auto">
              <a:lnSpc>
                <a:spcPct val="150000"/>
              </a:lnSpc>
              <a:buClr>
                <a:srgbClr val="E36C09"/>
              </a:buClr>
              <a:buSzTx/>
              <a:buFontTx/>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This design enables generated tests to be executed and evaluated automatically without manual judgement.</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sp>
        <p:nvSpPr>
          <p:cNvPr id="6" name="文本框 5"/>
          <p:cNvSpPr txBox="1"/>
          <p:nvPr/>
        </p:nvSpPr>
        <p:spPr>
          <a:xfrm>
            <a:off x="7105015" y="2183130"/>
            <a:ext cx="3718560" cy="1706880"/>
          </a:xfrm>
          <a:prstGeom prst="rect">
            <a:avLst/>
          </a:prstGeom>
        </p:spPr>
        <p:txBody>
          <a:bodyPr wrap="square">
            <a:spAutoFit/>
          </a:bodyPr>
          <a:p>
            <a:pPr>
              <a:lnSpc>
                <a:spcPts val="1800"/>
              </a:lnSpc>
            </a:pPr>
            <a:r>
              <a:rPr lang="en-US" altLang="zh-CN" sz="1600">
                <a:solidFill>
                  <a:schemeClr val="tx1"/>
                </a:solidFill>
                <a:latin typeface="Menlo" panose="020B0609030804020204" charset="0"/>
                <a:ea typeface="Menlo" panose="020B0609030804020204"/>
                <a:cs typeface="Menlo" panose="020B0609030804020204" charset="0"/>
              </a:rPr>
              <a:t>{</a:t>
            </a:r>
            <a:endParaRPr lang="en-US" altLang="zh-CN" sz="1600">
              <a:solidFill>
                <a:schemeClr val="tx1"/>
              </a:solidFill>
              <a:latin typeface="Menlo" panose="020B0609030804020204" charset="0"/>
              <a:ea typeface="Menlo" panose="020B0609030804020204"/>
              <a:cs typeface="Menlo" panose="020B0609030804020204" charset="0"/>
            </a:endParaRPr>
          </a:p>
          <a:p>
            <a:pPr>
              <a:lnSpc>
                <a:spcPts val="1800"/>
              </a:lnSpc>
            </a:pPr>
            <a:r>
              <a:rPr lang="en-US" altLang="zh-CN" sz="1600">
                <a:solidFill>
                  <a:schemeClr val="tx1"/>
                </a:solidFill>
                <a:latin typeface="Menlo" panose="020B0609030804020204" charset="0"/>
                <a:ea typeface="Menlo" panose="020B0609030804020204"/>
                <a:cs typeface="Menlo" panose="020B0609030804020204" charset="0"/>
              </a:rPr>
              <a:t>  "http_status_min": 400,</a:t>
            </a:r>
            <a:endParaRPr lang="en-US" altLang="zh-CN" sz="1600">
              <a:solidFill>
                <a:schemeClr val="tx1"/>
              </a:solidFill>
              <a:latin typeface="Menlo" panose="020B0609030804020204" charset="0"/>
              <a:ea typeface="Menlo" panose="020B0609030804020204"/>
              <a:cs typeface="Menlo" panose="020B0609030804020204" charset="0"/>
            </a:endParaRPr>
          </a:p>
          <a:p>
            <a:pPr>
              <a:lnSpc>
                <a:spcPts val="1800"/>
              </a:lnSpc>
            </a:pPr>
            <a:r>
              <a:rPr lang="en-US" altLang="zh-CN" sz="1600">
                <a:solidFill>
                  <a:schemeClr val="tx1"/>
                </a:solidFill>
                <a:latin typeface="Menlo" panose="020B0609030804020204" charset="0"/>
                <a:ea typeface="Menlo" panose="020B0609030804020204"/>
                <a:cs typeface="Menlo" panose="020B0609030804020204" charset="0"/>
              </a:rPr>
              <a:t>  "http_status_max": 400,</a:t>
            </a:r>
            <a:endParaRPr lang="en-US" altLang="zh-CN" sz="1600">
              <a:solidFill>
                <a:schemeClr val="tx1"/>
              </a:solidFill>
              <a:latin typeface="Menlo" panose="020B0609030804020204" charset="0"/>
              <a:ea typeface="Menlo" panose="020B0609030804020204"/>
              <a:cs typeface="Menlo" panose="020B0609030804020204" charset="0"/>
            </a:endParaRPr>
          </a:p>
          <a:p>
            <a:pPr>
              <a:lnSpc>
                <a:spcPts val="1800"/>
              </a:lnSpc>
            </a:pPr>
            <a:r>
              <a:rPr lang="en-US" altLang="zh-CN" sz="1600">
                <a:solidFill>
                  <a:schemeClr val="tx1"/>
                </a:solidFill>
                <a:latin typeface="Menlo" panose="020B0609030804020204" charset="0"/>
                <a:ea typeface="Menlo" panose="020B0609030804020204"/>
                <a:cs typeface="Menlo" panose="020B0609030804020204" charset="0"/>
              </a:rPr>
              <a:t>  "must_contain": ["stock"],</a:t>
            </a:r>
            <a:endParaRPr lang="en-US" altLang="zh-CN" sz="1600">
              <a:solidFill>
                <a:schemeClr val="tx1"/>
              </a:solidFill>
              <a:latin typeface="Menlo" panose="020B0609030804020204" charset="0"/>
              <a:ea typeface="Menlo" panose="020B0609030804020204"/>
              <a:cs typeface="Menlo" panose="020B0609030804020204" charset="0"/>
            </a:endParaRPr>
          </a:p>
          <a:p>
            <a:pPr>
              <a:lnSpc>
                <a:spcPts val="1800"/>
              </a:lnSpc>
            </a:pPr>
            <a:r>
              <a:rPr lang="en-US" altLang="zh-CN" sz="1600">
                <a:solidFill>
                  <a:schemeClr val="tx1"/>
                </a:solidFill>
                <a:latin typeface="Menlo" panose="020B0609030804020204" charset="0"/>
                <a:ea typeface="Menlo" panose="020B0609030804020204"/>
                <a:cs typeface="Menlo" panose="020B0609030804020204" charset="0"/>
              </a:rPr>
              <a:t>  "must_not_contain": [],</a:t>
            </a:r>
            <a:endParaRPr lang="en-US" altLang="zh-CN" sz="1600">
              <a:solidFill>
                <a:schemeClr val="tx1"/>
              </a:solidFill>
              <a:latin typeface="Menlo" panose="020B0609030804020204" charset="0"/>
              <a:ea typeface="Menlo" panose="020B0609030804020204"/>
              <a:cs typeface="Menlo" panose="020B0609030804020204" charset="0"/>
            </a:endParaRPr>
          </a:p>
          <a:p>
            <a:pPr>
              <a:lnSpc>
                <a:spcPts val="1800"/>
              </a:lnSpc>
            </a:pPr>
            <a:r>
              <a:rPr lang="en-US" altLang="zh-CN" sz="1600">
                <a:solidFill>
                  <a:schemeClr val="tx1"/>
                </a:solidFill>
                <a:latin typeface="Menlo" panose="020B0609030804020204" charset="0"/>
                <a:ea typeface="Menlo" panose="020B0609030804020204"/>
                <a:cs typeface="Menlo" panose="020B0609030804020204" charset="0"/>
              </a:rPr>
              <a:t>  "side_effect": {}</a:t>
            </a:r>
            <a:endParaRPr lang="en-US" altLang="zh-CN" sz="1600">
              <a:solidFill>
                <a:schemeClr val="tx1"/>
              </a:solidFill>
              <a:latin typeface="Menlo" panose="020B0609030804020204" charset="0"/>
              <a:ea typeface="Menlo" panose="020B0609030804020204"/>
              <a:cs typeface="Menlo" panose="020B0609030804020204" charset="0"/>
            </a:endParaRPr>
          </a:p>
          <a:p>
            <a:pPr>
              <a:lnSpc>
                <a:spcPts val="1800"/>
              </a:lnSpc>
            </a:pPr>
            <a:r>
              <a:rPr lang="en-US" altLang="zh-CN" sz="1600">
                <a:solidFill>
                  <a:schemeClr val="tx1"/>
                </a:solidFill>
                <a:latin typeface="Menlo" panose="020B0609030804020204" charset="0"/>
                <a:ea typeface="Menlo" panose="020B0609030804020204"/>
                <a:cs typeface="Menlo" panose="020B0609030804020204" charset="0"/>
              </a:rPr>
              <a:t>}</a:t>
            </a:r>
            <a:endParaRPr lang="en-US" altLang="zh-CN" sz="1600">
              <a:solidFill>
                <a:schemeClr val="tx1"/>
              </a:solidFill>
              <a:latin typeface="Menlo" panose="020B0609030804020204" charset="0"/>
              <a:ea typeface="Menlo" panose="020B0609030804020204"/>
              <a:cs typeface="Menlo" panose="020B0609030804020204" charset="0"/>
            </a:endParaRPr>
          </a:p>
        </p:txBody>
      </p:sp>
      <p:sp>
        <p:nvSpPr>
          <p:cNvPr id="7" name="文本框 6"/>
          <p:cNvSpPr txBox="1"/>
          <p:nvPr/>
        </p:nvSpPr>
        <p:spPr>
          <a:xfrm>
            <a:off x="7835265" y="4088130"/>
            <a:ext cx="2724150" cy="368300"/>
          </a:xfrm>
          <a:prstGeom prst="rect">
            <a:avLst/>
          </a:prstGeom>
        </p:spPr>
        <p:txBody>
          <a:bodyPr wrap="square">
            <a:spAutoFit/>
          </a:bodyPr>
          <a:p>
            <a:pPr algn="ctr">
              <a:lnSpc>
                <a:spcPct val="100000"/>
              </a:lnSpc>
              <a:buClrTx/>
              <a:buSzTx/>
              <a:buFontTx/>
            </a:pPr>
            <a:r>
              <a:rPr lang="en-US" altLang="zh-CN" b="0">
                <a:solidFill>
                  <a:srgbClr val="846749"/>
                </a:solidFill>
                <a:latin typeface="HarmonyOS Sans SC Medium" panose="00000600000000000000" charset="-122"/>
                <a:ea typeface="HarmonyOS Sans SC Medium" panose="00000600000000000000" charset="-122"/>
                <a:cs typeface="HarmonyOS Sans SC Medium" panose="00000600000000000000" charset="-122"/>
              </a:rPr>
              <a:t>Structured Test </a:t>
            </a:r>
            <a:r>
              <a:rPr lang="en-US" altLang="zh-CN" b="0">
                <a:solidFill>
                  <a:srgbClr val="846749"/>
                </a:solidFill>
                <a:latin typeface="HarmonyOS Sans SC Medium" panose="00000600000000000000" charset="-122"/>
                <a:ea typeface="HarmonyOS Sans SC Medium" panose="00000600000000000000" charset="-122"/>
                <a:cs typeface="HarmonyOS Sans SC Medium" panose="00000600000000000000" charset="-122"/>
              </a:rPr>
              <a:t>Oracle</a:t>
            </a:r>
            <a:endParaRPr lang="en-US" altLang="zh-CN" b="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Tree>
    <p:custDataLst>
      <p:tags r:id="rId2"/>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2"/>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485900" y="434340"/>
            <a:ext cx="7120890"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Test Design —— Risk Analysis</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 name="椭圆 2"/>
          <p:cNvSpPr/>
          <p:nvPr/>
        </p:nvSpPr>
        <p:spPr>
          <a:xfrm>
            <a:off x="704215" y="394335"/>
            <a:ext cx="705485" cy="705485"/>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latin typeface="HarmonyOS Sans SC Medium" panose="00000600000000000000" charset="-122"/>
              <a:ea typeface="HarmonyOS Sans SC Medium" panose="00000600000000000000" charset="-122"/>
              <a:cs typeface="HarmonyOS Sans SC Medium" panose="00000600000000000000" charset="-122"/>
            </a:endParaRPr>
          </a:p>
        </p:txBody>
      </p:sp>
      <p:sp>
        <p:nvSpPr>
          <p:cNvPr id="30" name="文本框 29"/>
          <p:cNvSpPr txBox="1"/>
          <p:nvPr/>
        </p:nvSpPr>
        <p:spPr>
          <a:xfrm>
            <a:off x="692785" y="434340"/>
            <a:ext cx="731520" cy="645160"/>
          </a:xfrm>
          <a:prstGeom prst="rect">
            <a:avLst/>
          </a:prstGeom>
          <a:noFill/>
        </p:spPr>
        <p:txBody>
          <a:bodyPr wrap="none" rtlCol="0">
            <a:spAutoFit/>
          </a:bodyPr>
          <a:p>
            <a:r>
              <a:rPr lang="en-US" altLang="zh-CN" sz="3600">
                <a:solidFill>
                  <a:schemeClr val="bg1"/>
                </a:solidFill>
                <a:cs typeface="HarmonyOS Sans SC Medium" panose="00000600000000000000" charset="-122"/>
              </a:rPr>
              <a:t>03</a:t>
            </a:r>
            <a:endParaRPr lang="en-US" altLang="zh-CN" sz="3600">
              <a:solidFill>
                <a:schemeClr val="bg1"/>
              </a:solidFill>
              <a:cs typeface="HarmonyOS Sans SC Medium" panose="00000600000000000000" charset="-122"/>
            </a:endParaRPr>
          </a:p>
        </p:txBody>
      </p:sp>
      <p:sp>
        <p:nvSpPr>
          <p:cNvPr id="8206" name="TextBox 11"/>
          <p:cNvSpPr/>
          <p:nvPr/>
        </p:nvSpPr>
        <p:spPr>
          <a:xfrm>
            <a:off x="5542915" y="1303020"/>
            <a:ext cx="6200140" cy="975995"/>
          </a:xfrm>
          <a:prstGeom prst="rect">
            <a:avLst/>
          </a:prstGeom>
          <a:noFill/>
          <a:ln w="9525">
            <a:noFill/>
          </a:ln>
        </p:spPr>
        <p:txBody>
          <a:bodyPr wrap="square">
            <a:spAutoFit/>
          </a:bodyPr>
          <a:p>
            <a:pPr>
              <a:lnSpc>
                <a:spcPct val="1600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Not all requirements deserve the same testing effort. Risk analysis prioritises testing resources by identifying requirements with higher likelihood or impact of failure.</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nSpc>
                <a:spcPct val="1600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In our project, Each requirement is evaluated across four dimensions: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graphicFrame>
        <p:nvGraphicFramePr>
          <p:cNvPr id="4" name="表格 3"/>
          <p:cNvGraphicFramePr/>
          <p:nvPr>
            <p:custDataLst>
              <p:tags r:id="rId2"/>
            </p:custDataLst>
          </p:nvPr>
        </p:nvGraphicFramePr>
        <p:xfrm>
          <a:off x="5666740" y="2411095"/>
          <a:ext cx="4326890" cy="2057400"/>
        </p:xfrm>
        <a:graphic>
          <a:graphicData uri="http://schemas.openxmlformats.org/drawingml/2006/table">
            <a:tbl>
              <a:tblPr firstRow="1" bandRow="1">
                <a:tableStyleId>{21E4AEA4-8DFA-4A89-87EB-49C32662AFE0}</a:tableStyleId>
              </a:tblPr>
              <a:tblGrid>
                <a:gridCol w="2163445"/>
                <a:gridCol w="2163445"/>
              </a:tblGrid>
              <a:tr h="381000">
                <a:tc>
                  <a:txBody>
                    <a:bodyPr/>
                    <a:p>
                      <a:pPr algn="ctr">
                        <a:buClrTx/>
                        <a:buSzTx/>
                        <a:buFontTx/>
                        <a:buNone/>
                      </a:pPr>
                      <a:r>
                        <a:rPr lang="en-US" altLang="zh-CN" sz="1200"/>
                        <a:t>Dimension</a:t>
                      </a:r>
                      <a:endParaRPr lang="en-US" altLang="zh-CN" sz="1200"/>
                    </a:p>
                  </a:txBody>
                  <a:tcPr/>
                </a:tc>
                <a:tc>
                  <a:txBody>
                    <a:bodyPr/>
                    <a:p>
                      <a:pPr algn="ctr">
                        <a:buClrTx/>
                        <a:buSzTx/>
                        <a:buFontTx/>
                        <a:buNone/>
                      </a:pPr>
                      <a:r>
                        <a:rPr lang="en-US" altLang="zh-CN" sz="1200"/>
                        <a:t>Purpose</a:t>
                      </a:r>
                      <a:endParaRPr lang="en-US" altLang="zh-CN" sz="1200"/>
                    </a:p>
                  </a:txBody>
                  <a:tcPr/>
                </a:tc>
              </a:tr>
              <a:tr h="381000">
                <a:tc>
                  <a:txBody>
                    <a:bodyPr/>
                    <a:p>
                      <a:pPr algn="ctr">
                        <a:buClrTx/>
                        <a:buSzTx/>
                        <a:buFontTx/>
                        <a:buNone/>
                      </a:pPr>
                      <a:r>
                        <a:rPr lang="en-US" altLang="zh-CN" sz="1200"/>
                        <a:t>Business Impact</a:t>
                      </a:r>
                      <a:endParaRPr lang="en-US" altLang="zh-CN" sz="1200"/>
                    </a:p>
                  </a:txBody>
                  <a:tcPr/>
                </a:tc>
                <a:tc>
                  <a:txBody>
                    <a:bodyPr/>
                    <a:p>
                      <a:pPr algn="ctr">
                        <a:buClrTx/>
                        <a:buSzTx/>
                        <a:buFontTx/>
                        <a:buNone/>
                      </a:pPr>
                      <a:r>
                        <a:rPr lang="en-US" altLang="zh-CN" sz="1200"/>
                        <a:t>Importance of the functionality</a:t>
                      </a:r>
                      <a:endParaRPr lang="en-US" altLang="zh-CN" sz="1200"/>
                    </a:p>
                  </a:txBody>
                  <a:tcPr/>
                </a:tc>
              </a:tr>
              <a:tr h="381000">
                <a:tc>
                  <a:txBody>
                    <a:bodyPr/>
                    <a:p>
                      <a:pPr algn="ctr">
                        <a:buClrTx/>
                        <a:buSzTx/>
                        <a:buFontTx/>
                        <a:buNone/>
                      </a:pPr>
                      <a:r>
                        <a:rPr lang="en-US" altLang="zh-CN" sz="1200"/>
                        <a:t>Failure Probability</a:t>
                      </a:r>
                      <a:endParaRPr lang="en-US" altLang="zh-CN" sz="1200"/>
                    </a:p>
                  </a:txBody>
                  <a:tcPr/>
                </a:tc>
                <a:tc>
                  <a:txBody>
                    <a:bodyPr/>
                    <a:p>
                      <a:pPr algn="ctr">
                        <a:buClrTx/>
                        <a:buSzTx/>
                        <a:buFontTx/>
                        <a:buNone/>
                      </a:pPr>
                      <a:r>
                        <a:rPr lang="en-US" altLang="zh-CN" sz="1200"/>
                        <a:t>Likelihood of undetected defects</a:t>
                      </a:r>
                      <a:endParaRPr lang="en-US" altLang="zh-CN" sz="1200"/>
                    </a:p>
                  </a:txBody>
                  <a:tcPr/>
                </a:tc>
              </a:tr>
              <a:tr h="381000">
                <a:tc>
                  <a:txBody>
                    <a:bodyPr/>
                    <a:p>
                      <a:pPr algn="ctr">
                        <a:buClrTx/>
                        <a:buSzTx/>
                        <a:buFontTx/>
                        <a:buNone/>
                      </a:pPr>
                      <a:r>
                        <a:rPr lang="en-US" altLang="zh-CN" sz="1200"/>
                        <a:t>Complexity</a:t>
                      </a:r>
                      <a:endParaRPr lang="en-US" altLang="zh-CN" sz="1200"/>
                    </a:p>
                  </a:txBody>
                  <a:tcPr/>
                </a:tc>
                <a:tc>
                  <a:txBody>
                    <a:bodyPr/>
                    <a:p>
                      <a:pPr algn="ctr">
                        <a:buClrTx/>
                        <a:buSzTx/>
                        <a:buFontTx/>
                        <a:buNone/>
                      </a:pPr>
                      <a:r>
                        <a:rPr lang="en-US" altLang="zh-CN" sz="1200"/>
                        <a:t>Input and logic complexity</a:t>
                      </a:r>
                      <a:endParaRPr lang="en-US" altLang="zh-CN" sz="1200"/>
                    </a:p>
                  </a:txBody>
                  <a:tcPr/>
                </a:tc>
              </a:tr>
              <a:tr h="381000">
                <a:tc>
                  <a:txBody>
                    <a:bodyPr/>
                    <a:p>
                      <a:pPr algn="ctr">
                        <a:buClrTx/>
                        <a:buSzTx/>
                        <a:buFontTx/>
                        <a:buNone/>
                      </a:pPr>
                      <a:r>
                        <a:rPr lang="en-US" altLang="zh-CN" sz="1200"/>
                        <a:t>Failure Impact</a:t>
                      </a:r>
                      <a:endParaRPr lang="en-US" altLang="zh-CN" sz="1200"/>
                    </a:p>
                  </a:txBody>
                  <a:tcPr/>
                </a:tc>
                <a:tc>
                  <a:txBody>
                    <a:bodyPr/>
                    <a:p>
                      <a:pPr algn="ctr">
                        <a:buClrTx/>
                        <a:buSzTx/>
                        <a:buFontTx/>
                        <a:buNone/>
                      </a:pPr>
                      <a:r>
                        <a:rPr lang="en-US" altLang="zh-CN" sz="1200"/>
                        <a:t>Consequences of failures</a:t>
                      </a:r>
                      <a:endParaRPr lang="en-US" altLang="zh-CN" sz="1200"/>
                    </a:p>
                  </a:txBody>
                  <a:tcPr/>
                </a:tc>
              </a:tr>
            </a:tbl>
          </a:graphicData>
        </a:graphic>
      </p:graphicFrame>
      <p:sp>
        <p:nvSpPr>
          <p:cNvPr id="9" name="文本框 8"/>
          <p:cNvSpPr txBox="1"/>
          <p:nvPr/>
        </p:nvSpPr>
        <p:spPr>
          <a:xfrm>
            <a:off x="5542915" y="4600575"/>
            <a:ext cx="5080000" cy="1422400"/>
          </a:xfrm>
          <a:prstGeom prst="rect">
            <a:avLst/>
          </a:prstGeom>
        </p:spPr>
        <p:txBody>
          <a:bodyPr>
            <a:noAutofit/>
          </a:bodyPr>
          <a:p>
            <a:pPr algn="l">
              <a:lnSpc>
                <a:spcPct val="160000"/>
              </a:lnSpc>
              <a:buClrTx/>
              <a:buSzTx/>
              <a:buFontTx/>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Each dimension is rated from 1 (Low) to 3 (High).</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Scores are converted into three risk levels: </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Low: 1–3，</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Medium: 4–7，</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High: 8–10.</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buNone/>
            </a:pP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pic>
        <p:nvPicPr>
          <p:cNvPr id="24" name="图片 23" descr="截屏2026-05-30 16.31.56"/>
          <p:cNvPicPr>
            <a:picLocks noChangeAspect="1"/>
          </p:cNvPicPr>
          <p:nvPr/>
        </p:nvPicPr>
        <p:blipFill>
          <a:blip r:embed="rId3"/>
          <a:stretch>
            <a:fillRect/>
          </a:stretch>
        </p:blipFill>
        <p:spPr>
          <a:xfrm>
            <a:off x="892175" y="1416685"/>
            <a:ext cx="4465320" cy="4638675"/>
          </a:xfrm>
          <a:prstGeom prst="rect">
            <a:avLst/>
          </a:prstGeom>
        </p:spPr>
      </p:pic>
      <p:sp>
        <p:nvSpPr>
          <p:cNvPr id="25" name="文本框 24"/>
          <p:cNvSpPr txBox="1"/>
          <p:nvPr/>
        </p:nvSpPr>
        <p:spPr>
          <a:xfrm>
            <a:off x="892175" y="6155055"/>
            <a:ext cx="6096000" cy="275590"/>
          </a:xfrm>
          <a:prstGeom prst="rect">
            <a:avLst/>
          </a:prstGeom>
          <a:noFill/>
        </p:spPr>
        <p:txBody>
          <a:bodyPr wrap="square" rtlCol="0" anchor="t">
            <a:spAutoFit/>
          </a:bodyPr>
          <a:p>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26" name="文本框 25"/>
          <p:cNvSpPr txBox="1"/>
          <p:nvPr/>
        </p:nvSpPr>
        <p:spPr>
          <a:xfrm>
            <a:off x="892175" y="6231890"/>
            <a:ext cx="11160125" cy="673735"/>
          </a:xfrm>
          <a:prstGeom prst="rect">
            <a:avLst/>
          </a:prstGeom>
          <a:noFill/>
        </p:spPr>
        <p:txBody>
          <a:bodyPr wrap="square" rtlCol="0" anchor="t">
            <a:noAutofit/>
          </a:bodyPr>
          <a:p>
            <a:r>
              <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 Risk distribution is derived from requirements (data/mini_ecommerce_requirements.json) and one stored LLM analysis (data/baseline/risk_llm.json). Results are reproducible for the same inputs but may change after requirement updates or re-analysis.</a:t>
            </a:r>
            <a:endPar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a:p>
            <a:r>
              <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 Risk score is computed as: score = round((sum − 4) / 8 </a:t>
            </a:r>
            <a:r>
              <a:rPr lang="en-US" altLang="en-US"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a:t>
            </a:r>
            <a:r>
              <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 9) + 1 .</a:t>
            </a:r>
            <a:endPar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Tree>
    <p:custDataLst>
      <p:tags r:id="rId4"/>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2"/>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485900" y="434340"/>
            <a:ext cx="6769100"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Test Design —— Optimisation</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 name="椭圆 2"/>
          <p:cNvSpPr/>
          <p:nvPr/>
        </p:nvSpPr>
        <p:spPr>
          <a:xfrm>
            <a:off x="704215" y="394335"/>
            <a:ext cx="705485" cy="705485"/>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latin typeface="HarmonyOS Sans SC Medium" panose="00000600000000000000" charset="-122"/>
              <a:ea typeface="HarmonyOS Sans SC Medium" panose="00000600000000000000" charset="-122"/>
              <a:cs typeface="HarmonyOS Sans SC Medium" panose="00000600000000000000" charset="-122"/>
            </a:endParaRPr>
          </a:p>
        </p:txBody>
      </p:sp>
      <p:sp>
        <p:nvSpPr>
          <p:cNvPr id="30" name="文本框 29"/>
          <p:cNvSpPr txBox="1"/>
          <p:nvPr/>
        </p:nvSpPr>
        <p:spPr>
          <a:xfrm>
            <a:off x="692785" y="434340"/>
            <a:ext cx="731520" cy="645160"/>
          </a:xfrm>
          <a:prstGeom prst="rect">
            <a:avLst/>
          </a:prstGeom>
          <a:noFill/>
        </p:spPr>
        <p:txBody>
          <a:bodyPr wrap="none" rtlCol="0">
            <a:spAutoFit/>
          </a:bodyPr>
          <a:p>
            <a:r>
              <a:rPr lang="en-US" altLang="zh-CN" sz="3600">
                <a:solidFill>
                  <a:schemeClr val="bg1"/>
                </a:solidFill>
                <a:cs typeface="HarmonyOS Sans SC Medium" panose="00000600000000000000" charset="-122"/>
              </a:rPr>
              <a:t>03</a:t>
            </a:r>
            <a:endParaRPr lang="en-US" altLang="zh-CN" sz="3600">
              <a:solidFill>
                <a:schemeClr val="bg1"/>
              </a:solidFill>
              <a:cs typeface="HarmonyOS Sans SC Medium" panose="00000600000000000000" charset="-122"/>
            </a:endParaRPr>
          </a:p>
        </p:txBody>
      </p:sp>
      <p:sp>
        <p:nvSpPr>
          <p:cNvPr id="5" name="文本框 4"/>
          <p:cNvSpPr txBox="1"/>
          <p:nvPr/>
        </p:nvSpPr>
        <p:spPr>
          <a:xfrm>
            <a:off x="624840" y="1412875"/>
            <a:ext cx="2147570" cy="460375"/>
          </a:xfrm>
          <a:prstGeom prst="rect">
            <a:avLst/>
          </a:prstGeom>
          <a:noFill/>
        </p:spPr>
        <p:txBody>
          <a:bodyPr wrap="none" rtlCol="0" anchor="t">
            <a:spAutoFit/>
          </a:bodyPr>
          <a:p>
            <a:pPr algn="ct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Why Optimise</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8206" name="TextBox 11"/>
          <p:cNvSpPr/>
          <p:nvPr/>
        </p:nvSpPr>
        <p:spPr>
          <a:xfrm>
            <a:off x="692785" y="1979930"/>
            <a:ext cx="6584315" cy="975995"/>
          </a:xfrm>
          <a:prstGeom prst="rect">
            <a:avLst/>
          </a:prstGeom>
          <a:noFill/>
          <a:ln w="9525">
            <a:noFill/>
          </a:ln>
        </p:spPr>
        <p:txBody>
          <a:bodyPr wrap="square">
            <a:spAutoFit/>
          </a:bodyPr>
          <a:p>
            <a:pPr>
              <a:lnSpc>
                <a:spcPct val="1600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Generated test suites may contain redundant cases that increase execution cost without improving coverage. Optimisation reduces unnecessary cases while preserving risk coverage and fault-detection capability.</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sp>
        <p:nvSpPr>
          <p:cNvPr id="9" name="文本框 8"/>
          <p:cNvSpPr txBox="1"/>
          <p:nvPr/>
        </p:nvSpPr>
        <p:spPr>
          <a:xfrm>
            <a:off x="624840" y="3137853"/>
            <a:ext cx="5080000" cy="460375"/>
          </a:xfrm>
          <a:prstGeom prst="rect">
            <a:avLst/>
          </a:prstGeom>
        </p:spPr>
        <p:txBody>
          <a:bodyPr>
            <a:spAutoFit/>
          </a:bodyPr>
          <a:p>
            <a:pPr>
              <a:spcAft>
                <a:spcPct val="60000"/>
              </a:spcAft>
            </a:pP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rPr>
              <a:t>Two-Stage Optimisation Strategy</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25" name="TextBox 11"/>
          <p:cNvSpPr/>
          <p:nvPr/>
        </p:nvSpPr>
        <p:spPr>
          <a:xfrm>
            <a:off x="704215" y="3780790"/>
            <a:ext cx="6573520" cy="2656205"/>
          </a:xfrm>
          <a:prstGeom prst="rect">
            <a:avLst/>
          </a:prstGeom>
          <a:noFill/>
          <a:ln w="9525">
            <a:noFill/>
          </a:ln>
        </p:spPr>
        <p:txBody>
          <a:bodyPr wrap="square">
            <a:spAutoFit/>
          </a:bodyPr>
          <a:p>
            <a:pPr algn="l" fontAlgn="auto">
              <a:lnSpc>
                <a:spcPts val="2000"/>
              </a:lnSpc>
              <a:buClrTx/>
              <a:buSzTx/>
              <a:buFontTx/>
            </a:pPr>
            <a:r>
              <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Stage 1 — Prioritisation</a:t>
            </a:r>
            <a:endPar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indent="0" fontAlgn="auto">
              <a:lnSpc>
                <a:spcPts val="16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Generated cases are first prioritised according to:</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fontAlgn="auto">
              <a:lnSpc>
                <a:spcPts val="1600"/>
              </a:lnSpc>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Risk level and risk score</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fontAlgn="auto">
              <a:lnSpc>
                <a:spcPts val="1600"/>
              </a:lnSpc>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Test design technique priority</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fontAlgn="auto">
              <a:lnSpc>
                <a:spcPts val="1600"/>
              </a:lnSpc>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Coverage category</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indent="0" fontAlgn="auto">
              <a:lnSpc>
                <a:spcPts val="16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Higher-risk requirements and stronger techniques are processed first.</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indent="0" fontAlgn="auto">
              <a:lnSpc>
                <a:spcPts val="2000"/>
              </a:lnSpc>
            </a:pPr>
            <a:r>
              <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Stage 2 — Risk-Based Reduction</a:t>
            </a:r>
            <a:endPar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indent="0" fontAlgn="auto">
              <a:lnSpc>
                <a:spcPts val="16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Different reduction policies are applied according to requirement risk:</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fontAlgn="auto">
              <a:lnSpc>
                <a:spcPts val="1600"/>
              </a:lnSpc>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High Risk: retain all generated cases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fontAlgn="auto">
              <a:lnSpc>
                <a:spcPts val="1600"/>
              </a:lnSpc>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Medium Risk: keep one representative per coverage type and retain all Decision Table and State-Transition cases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fontAlgn="auto">
              <a:lnSpc>
                <a:spcPts val="1600"/>
              </a:lnSpc>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Low Risk: remove redundant cases while ensuring minimum coverage remains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sp>
        <p:nvSpPr>
          <p:cNvPr id="26" name="文本框 25"/>
          <p:cNvSpPr txBox="1"/>
          <p:nvPr/>
        </p:nvSpPr>
        <p:spPr>
          <a:xfrm>
            <a:off x="7520940" y="1457960"/>
            <a:ext cx="3058795" cy="460375"/>
          </a:xfrm>
          <a:prstGeom prst="rect">
            <a:avLst/>
          </a:prstGeom>
        </p:spPr>
        <p:txBody>
          <a:bodyPr wrap="square">
            <a:spAutoFit/>
          </a:bodyPr>
          <a:p>
            <a:pPr algn="ctr">
              <a:buClrTx/>
              <a:buSzTx/>
              <a:buFontTx/>
            </a:pP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rPr>
              <a:t>Optimisation Result</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27" name="文本框 26"/>
          <p:cNvSpPr txBox="1"/>
          <p:nvPr/>
        </p:nvSpPr>
        <p:spPr>
          <a:xfrm>
            <a:off x="7520940" y="2056130"/>
            <a:ext cx="4671060" cy="2745740"/>
          </a:xfrm>
          <a:prstGeom prst="rect">
            <a:avLst/>
          </a:prstGeom>
          <a:noFill/>
        </p:spPr>
        <p:txBody>
          <a:bodyPr wrap="square" rtlCol="0" anchor="t">
            <a:spAutoFit/>
          </a:bodyPr>
          <a:p>
            <a:pPr marL="171450" indent="-171450">
              <a:lnSpc>
                <a:spcPct val="160000"/>
              </a:lnSpc>
              <a:buFont typeface="Arial" panose="020B0604020202090204" pitchFamily="34" charset="0"/>
              <a:buChar char="•"/>
            </a:pPr>
            <a:r>
              <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Black-box Cases</a:t>
            </a:r>
            <a:endPar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nSpc>
                <a:spcPct val="1600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61 generated cases </a:t>
            </a:r>
            <a:r>
              <a:rPr lang="en-US" altLang="en-US"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a:t>
            </a: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57 retained cases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a:lnSpc>
                <a:spcPct val="160000"/>
              </a:lnSpc>
              <a:buFont typeface="Arial" panose="020B0604020202090204" pitchFamily="34" charset="0"/>
              <a:buChar char="•"/>
            </a:pPr>
            <a:r>
              <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White-box State Cases</a:t>
            </a:r>
            <a:endPar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nSpc>
                <a:spcPct val="1600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4 state-transition cases retained completely because each    </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nSpc>
                <a:spcPct val="1600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case represents a unique workflow edge</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a:lnSpc>
                <a:spcPct val="160000"/>
              </a:lnSpc>
              <a:buFont typeface="Arial" panose="020B0604020202090204" pitchFamily="34" charset="0"/>
              <a:buChar char="•"/>
            </a:pPr>
            <a:r>
              <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Final Optimised Suite</a:t>
            </a:r>
            <a:endPar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nSpc>
                <a:spcPct val="1600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65 total cases </a:t>
            </a:r>
            <a:r>
              <a:rPr lang="en-US" altLang="en-US"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a:t>
            </a: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61 retained cases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nSpc>
                <a:spcPct val="1600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No requirements or coverage categories were removed during optimisation.</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spTree>
    <p:custDataLst>
      <p:tags r:id="rId2"/>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2"/>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485900" y="434340"/>
            <a:ext cx="7701915"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Test Design —— Interactive Review </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 name="椭圆 2"/>
          <p:cNvSpPr/>
          <p:nvPr/>
        </p:nvSpPr>
        <p:spPr>
          <a:xfrm>
            <a:off x="704215" y="394335"/>
            <a:ext cx="705485" cy="705485"/>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latin typeface="HarmonyOS Sans SC Medium" panose="00000600000000000000" charset="-122"/>
              <a:ea typeface="HarmonyOS Sans SC Medium" panose="00000600000000000000" charset="-122"/>
              <a:cs typeface="HarmonyOS Sans SC Medium" panose="00000600000000000000" charset="-122"/>
            </a:endParaRPr>
          </a:p>
        </p:txBody>
      </p:sp>
      <p:sp>
        <p:nvSpPr>
          <p:cNvPr id="30" name="文本框 29"/>
          <p:cNvSpPr txBox="1"/>
          <p:nvPr/>
        </p:nvSpPr>
        <p:spPr>
          <a:xfrm>
            <a:off x="692785" y="434340"/>
            <a:ext cx="731520" cy="645160"/>
          </a:xfrm>
          <a:prstGeom prst="rect">
            <a:avLst/>
          </a:prstGeom>
          <a:noFill/>
        </p:spPr>
        <p:txBody>
          <a:bodyPr wrap="none" rtlCol="0">
            <a:spAutoFit/>
          </a:bodyPr>
          <a:p>
            <a:r>
              <a:rPr lang="en-US" altLang="zh-CN" sz="3600">
                <a:solidFill>
                  <a:schemeClr val="bg1"/>
                </a:solidFill>
                <a:cs typeface="HarmonyOS Sans SC Medium" panose="00000600000000000000" charset="-122"/>
              </a:rPr>
              <a:t>03</a:t>
            </a:r>
            <a:endParaRPr lang="en-US" altLang="zh-CN" sz="3600">
              <a:solidFill>
                <a:schemeClr val="bg1"/>
              </a:solidFill>
              <a:cs typeface="HarmonyOS Sans SC Medium" panose="00000600000000000000" charset="-122"/>
            </a:endParaRPr>
          </a:p>
        </p:txBody>
      </p:sp>
      <p:sp>
        <p:nvSpPr>
          <p:cNvPr id="5" name="文本框 4"/>
          <p:cNvSpPr txBox="1"/>
          <p:nvPr/>
        </p:nvSpPr>
        <p:spPr>
          <a:xfrm>
            <a:off x="1863408" y="1388110"/>
            <a:ext cx="3841115" cy="460375"/>
          </a:xfrm>
          <a:prstGeom prst="rect">
            <a:avLst/>
          </a:prstGeom>
          <a:noFill/>
        </p:spPr>
        <p:txBody>
          <a:bodyPr wrap="none" rtlCol="0" anchor="t">
            <a:spAutoFit/>
          </a:bodyPr>
          <a:p>
            <a:pPr algn="ct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Why Human-in-the-Loop</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8206" name="TextBox 11"/>
          <p:cNvSpPr/>
          <p:nvPr/>
        </p:nvSpPr>
        <p:spPr>
          <a:xfrm>
            <a:off x="1860550" y="1987550"/>
            <a:ext cx="4582795" cy="1565910"/>
          </a:xfrm>
          <a:prstGeom prst="rect">
            <a:avLst/>
          </a:prstGeom>
          <a:noFill/>
          <a:ln w="9525">
            <a:noFill/>
          </a:ln>
        </p:spPr>
        <p:txBody>
          <a:bodyPr wrap="square">
            <a:spAutoFit/>
          </a:bodyPr>
          <a:p>
            <a:pPr>
              <a:lnSpc>
                <a:spcPct val="1600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Automatically generated artefacts should remain editable because test design still requires human judgement and domain knowledge.</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nSpc>
                <a:spcPct val="160000"/>
              </a:lnSpc>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The system therefore allows users to review and modify intermediate outputs before continuing the workflow.</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sp>
        <p:nvSpPr>
          <p:cNvPr id="9" name="文本框 8"/>
          <p:cNvSpPr txBox="1"/>
          <p:nvPr/>
        </p:nvSpPr>
        <p:spPr>
          <a:xfrm>
            <a:off x="1854200" y="3692525"/>
            <a:ext cx="3851275" cy="460375"/>
          </a:xfrm>
          <a:prstGeom prst="rect">
            <a:avLst/>
          </a:prstGeom>
        </p:spPr>
        <p:txBody>
          <a:bodyPr wrap="square">
            <a:spAutoFit/>
          </a:bodyPr>
          <a:p>
            <a:pPr>
              <a:spcAft>
                <a:spcPct val="60000"/>
              </a:spcAft>
            </a:pP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rPr>
              <a:t>Editable Artefacts</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25" name="TextBox 11"/>
          <p:cNvSpPr/>
          <p:nvPr/>
        </p:nvSpPr>
        <p:spPr>
          <a:xfrm>
            <a:off x="1854200" y="4291965"/>
            <a:ext cx="4580255" cy="1861185"/>
          </a:xfrm>
          <a:prstGeom prst="rect">
            <a:avLst/>
          </a:prstGeom>
          <a:noFill/>
          <a:ln w="9525">
            <a:noFill/>
          </a:ln>
        </p:spPr>
        <p:txBody>
          <a:bodyPr wrap="square">
            <a:spAutoFit/>
          </a:bodyPr>
          <a:p>
            <a:pPr algn="l" fontAlgn="auto">
              <a:lnSpc>
                <a:spcPct val="160000"/>
              </a:lnSpc>
              <a:buClrTx/>
              <a:buSzTx/>
              <a:buFontTx/>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All generated artefacts support direct editing inside the interface:</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algn="l" fontAlgn="auto">
              <a:lnSpc>
                <a:spcPct val="160000"/>
              </a:lnSpc>
              <a:buClrTx/>
              <a:buSzTx/>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Add new rows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algn="l" fontAlgn="auto">
              <a:lnSpc>
                <a:spcPct val="160000"/>
              </a:lnSpc>
              <a:buClrTx/>
              <a:buSzTx/>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Modify generated values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algn="l" fontAlgn="auto">
              <a:lnSpc>
                <a:spcPct val="160000"/>
              </a:lnSpc>
              <a:buClrTx/>
              <a:buSzTx/>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Delete unnecessary entries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algn="l" fontAlgn="auto">
              <a:lnSpc>
                <a:spcPct val="160000"/>
              </a:lnSpc>
              <a:buClrTx/>
              <a:buSzTx/>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Adjust coverage decisions manually</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sp>
        <p:nvSpPr>
          <p:cNvPr id="26" name="文本框 25"/>
          <p:cNvSpPr txBox="1"/>
          <p:nvPr/>
        </p:nvSpPr>
        <p:spPr>
          <a:xfrm>
            <a:off x="7520940" y="1457960"/>
            <a:ext cx="3951605" cy="460375"/>
          </a:xfrm>
          <a:prstGeom prst="rect">
            <a:avLst/>
          </a:prstGeom>
        </p:spPr>
        <p:txBody>
          <a:bodyPr wrap="square">
            <a:spAutoFit/>
          </a:bodyPr>
          <a:p>
            <a:pPr algn="ctr">
              <a:buClrTx/>
              <a:buSzTx/>
              <a:buFontTx/>
            </a:pP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rPr>
              <a:t>Automatic Re-Generation</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27" name="文本框 26"/>
          <p:cNvSpPr txBox="1"/>
          <p:nvPr/>
        </p:nvSpPr>
        <p:spPr>
          <a:xfrm>
            <a:off x="7520940" y="2056130"/>
            <a:ext cx="4173220" cy="1861185"/>
          </a:xfrm>
          <a:prstGeom prst="rect">
            <a:avLst/>
          </a:prstGeom>
          <a:noFill/>
        </p:spPr>
        <p:txBody>
          <a:bodyPr wrap="square" rtlCol="0" anchor="t">
            <a:spAutoFit/>
          </a:bodyPr>
          <a:p>
            <a:pPr indent="0">
              <a:lnSpc>
                <a:spcPct val="160000"/>
              </a:lnSpc>
              <a:buFont typeface="Arial" panose="020B0604020202090204" pitchFamily="34" charset="0"/>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Changes propagate automatically through downstream stages: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algn="l">
              <a:lnSpc>
                <a:spcPct val="160000"/>
              </a:lnSpc>
              <a:buClrTx/>
              <a:buSzTx/>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Editing invalidates dependent artefacts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algn="l">
              <a:lnSpc>
                <a:spcPct val="160000"/>
              </a:lnSpc>
              <a:buClrTx/>
              <a:buSzTx/>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Later workflow steps are automatically recomputed</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171450" indent="-171450" algn="l">
              <a:lnSpc>
                <a:spcPct val="160000"/>
              </a:lnSpc>
              <a:buClrTx/>
              <a:buSzTx/>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Users receive visual feedback when regeneration is required</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sp>
        <p:nvSpPr>
          <p:cNvPr id="7" name="椭圆 6"/>
          <p:cNvSpPr/>
          <p:nvPr/>
        </p:nvSpPr>
        <p:spPr>
          <a:xfrm>
            <a:off x="956310" y="1852295"/>
            <a:ext cx="824230" cy="824230"/>
          </a:xfrm>
          <a:prstGeom prst="ellipse">
            <a:avLst/>
          </a:prstGeom>
          <a:solidFill>
            <a:srgbClr val="D36B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pic>
        <p:nvPicPr>
          <p:cNvPr id="42" name="图片 41" descr="tongjiziliaoICO"/>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0925" y="1959610"/>
            <a:ext cx="609600" cy="609600"/>
          </a:xfrm>
          <a:prstGeom prst="rect">
            <a:avLst/>
          </a:prstGeom>
        </p:spPr>
      </p:pic>
      <p:sp>
        <p:nvSpPr>
          <p:cNvPr id="37" name="椭圆 36"/>
          <p:cNvSpPr/>
          <p:nvPr/>
        </p:nvSpPr>
        <p:spPr>
          <a:xfrm>
            <a:off x="956310" y="4183380"/>
            <a:ext cx="824230" cy="824230"/>
          </a:xfrm>
          <a:prstGeom prst="ellipse">
            <a:avLst/>
          </a:prstGeom>
          <a:solidFill>
            <a:srgbClr val="D36B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pic>
        <p:nvPicPr>
          <p:cNvPr id="38" name="图片 37" descr="shujubaobiaoICO"/>
          <p:cNvPicPr>
            <a:picLocks noChangeAspect="1"/>
          </p:cNvPicPr>
          <p:nvPr/>
        </p:nvPicPr>
        <p:blipFill>
          <a:blip r:embed="rId4"/>
          <a:stretch>
            <a:fillRect/>
          </a:stretch>
        </p:blipFill>
        <p:spPr>
          <a:xfrm>
            <a:off x="1063625" y="4291965"/>
            <a:ext cx="609600" cy="609600"/>
          </a:xfrm>
          <a:prstGeom prst="rect">
            <a:avLst/>
          </a:prstGeom>
        </p:spPr>
      </p:pic>
      <p:sp>
        <p:nvSpPr>
          <p:cNvPr id="8" name="椭圆 7"/>
          <p:cNvSpPr/>
          <p:nvPr/>
        </p:nvSpPr>
        <p:spPr>
          <a:xfrm>
            <a:off x="6643370" y="1852295"/>
            <a:ext cx="824230" cy="824230"/>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pic>
        <p:nvPicPr>
          <p:cNvPr id="36" name="图片 35" descr="shurumimazhuangtaiICO"/>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50685" y="1928495"/>
            <a:ext cx="609600" cy="609600"/>
          </a:xfrm>
          <a:prstGeom prst="rect">
            <a:avLst/>
          </a:prstGeom>
        </p:spPr>
      </p:pic>
      <p:sp>
        <p:nvSpPr>
          <p:cNvPr id="11" name="文本框 10"/>
          <p:cNvSpPr txBox="1"/>
          <p:nvPr/>
        </p:nvSpPr>
        <p:spPr>
          <a:xfrm>
            <a:off x="7520940" y="4055110"/>
            <a:ext cx="3951605" cy="460375"/>
          </a:xfrm>
          <a:prstGeom prst="rect">
            <a:avLst/>
          </a:prstGeom>
        </p:spPr>
        <p:txBody>
          <a:bodyPr wrap="square">
            <a:spAutoFit/>
          </a:bodyPr>
          <a:p>
            <a:pPr algn="l">
              <a:buClrTx/>
              <a:buSzTx/>
              <a:buFontTx/>
            </a:pP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rPr>
              <a:t>Why It Matters</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12" name="文本框 11"/>
          <p:cNvSpPr txBox="1"/>
          <p:nvPr/>
        </p:nvSpPr>
        <p:spPr>
          <a:xfrm>
            <a:off x="7520940" y="4653280"/>
            <a:ext cx="4173220" cy="681355"/>
          </a:xfrm>
          <a:prstGeom prst="rect">
            <a:avLst/>
          </a:prstGeom>
          <a:noFill/>
        </p:spPr>
        <p:txBody>
          <a:bodyPr wrap="square" rtlCol="0" anchor="t">
            <a:spAutoFit/>
          </a:bodyPr>
          <a:p>
            <a:pPr indent="0">
              <a:lnSpc>
                <a:spcPct val="160000"/>
              </a:lnSpc>
              <a:buFont typeface="Arial" panose="020B0604020202090204" pitchFamily="34" charset="0"/>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This design keeps the user in control while preserving automation.</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sp>
        <p:nvSpPr>
          <p:cNvPr id="14" name="椭圆 13"/>
          <p:cNvSpPr/>
          <p:nvPr/>
        </p:nvSpPr>
        <p:spPr>
          <a:xfrm>
            <a:off x="6615430" y="4152900"/>
            <a:ext cx="824230" cy="824230"/>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pic>
        <p:nvPicPr>
          <p:cNvPr id="15" name="图片 14" descr="huodongguanliICO"/>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22745" y="4260215"/>
            <a:ext cx="609600" cy="609600"/>
          </a:xfrm>
          <a:prstGeom prst="rect">
            <a:avLst/>
          </a:prstGeom>
        </p:spPr>
      </p:pic>
    </p:spTree>
    <p:custDataLst>
      <p:tags r:id="rId9"/>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2"/>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485900" y="516890"/>
            <a:ext cx="7666990"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Test Design —— </a:t>
            </a:r>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Traceability</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 name="椭圆 2"/>
          <p:cNvSpPr/>
          <p:nvPr/>
        </p:nvSpPr>
        <p:spPr>
          <a:xfrm>
            <a:off x="704215" y="394335"/>
            <a:ext cx="705485" cy="705485"/>
          </a:xfrm>
          <a:prstGeom prst="ellipse">
            <a:avLst/>
          </a:prstGeom>
          <a:solidFill>
            <a:srgbClr val="846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latin typeface="HarmonyOS Sans SC Medium" panose="00000600000000000000" charset="-122"/>
              <a:ea typeface="HarmonyOS Sans SC Medium" panose="00000600000000000000" charset="-122"/>
              <a:cs typeface="HarmonyOS Sans SC Medium" panose="00000600000000000000" charset="-122"/>
            </a:endParaRPr>
          </a:p>
        </p:txBody>
      </p:sp>
      <p:sp>
        <p:nvSpPr>
          <p:cNvPr id="30" name="文本框 29"/>
          <p:cNvSpPr txBox="1"/>
          <p:nvPr/>
        </p:nvSpPr>
        <p:spPr>
          <a:xfrm>
            <a:off x="704215" y="419735"/>
            <a:ext cx="731520" cy="645160"/>
          </a:xfrm>
          <a:prstGeom prst="rect">
            <a:avLst/>
          </a:prstGeom>
          <a:noFill/>
        </p:spPr>
        <p:txBody>
          <a:bodyPr wrap="none" rtlCol="0">
            <a:spAutoFit/>
          </a:bodyPr>
          <a:p>
            <a:r>
              <a:rPr lang="en-US" altLang="zh-CN" sz="3600">
                <a:solidFill>
                  <a:schemeClr val="bg1"/>
                </a:solidFill>
                <a:cs typeface="HarmonyOS Sans SC Medium" panose="00000600000000000000" charset="-122"/>
              </a:rPr>
              <a:t>03</a:t>
            </a:r>
            <a:endParaRPr lang="en-US" altLang="zh-CN" sz="3600">
              <a:solidFill>
                <a:schemeClr val="bg1"/>
              </a:solidFill>
              <a:cs typeface="HarmonyOS Sans SC Medium" panose="00000600000000000000" charset="-122"/>
            </a:endParaRPr>
          </a:p>
        </p:txBody>
      </p:sp>
      <p:sp>
        <p:nvSpPr>
          <p:cNvPr id="7" name="文本框 6"/>
          <p:cNvSpPr txBox="1"/>
          <p:nvPr/>
        </p:nvSpPr>
        <p:spPr>
          <a:xfrm>
            <a:off x="4707255" y="1769745"/>
            <a:ext cx="4768850"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rPr>
              <a:t>Traceability Design</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8206" name="TextBox 11"/>
          <p:cNvSpPr/>
          <p:nvPr/>
        </p:nvSpPr>
        <p:spPr>
          <a:xfrm>
            <a:off x="4707255" y="2353310"/>
            <a:ext cx="7484745" cy="3386455"/>
          </a:xfrm>
          <a:prstGeom prst="rect">
            <a:avLst/>
          </a:prstGeom>
          <a:noFill/>
          <a:ln w="9525">
            <a:noFill/>
          </a:ln>
        </p:spPr>
        <p:txBody>
          <a:bodyPr wrap="square">
            <a:spAutoFit/>
          </a:bodyPr>
          <a:p>
            <a:pPr>
              <a:lnSpc>
                <a:spcPct val="170000"/>
              </a:lnSpc>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Trace chain:</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requirement </a:t>
            </a:r>
            <a:r>
              <a:rPr lang="en-US"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coverage item </a:t>
            </a:r>
            <a:r>
              <a:rPr lang="en-US"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generated test case </a:t>
            </a:r>
            <a:r>
              <a:rPr lang="en-US"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PyTest function.</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nSpc>
                <a:spcPct val="170000"/>
              </a:lnSpc>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Counts on the current baseline:</a:t>
            </a:r>
            <a:endPar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12 requirements.</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65 generated test cases (61 black-box + 4 white-box ST).</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30 hand-written PyTest functions.</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marL="285750" indent="-285750">
              <a:lnSpc>
                <a:spcPct val="170000"/>
              </a:lnSpc>
              <a:buFont typeface="Arial" panose="020B0604020202090204" pitchFamily="34" charset="0"/>
              <a:buChar char="•"/>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37 coverage items.</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nSpc>
                <a:spcPct val="170000"/>
              </a:lnSpc>
            </a:pPr>
            <a:r>
              <a:rPr lang="en-US" altLang="zh-CN" sz="14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Mechanism: </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scripts/build_traceability.py regenerates from three sources (the requirement set, the persisted baseline, and the test docstrings) — never maintained by hand.</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pic>
        <p:nvPicPr>
          <p:cNvPr id="4" name="图片 3" descr="Traceability"/>
          <p:cNvPicPr>
            <a:picLocks noChangeAspect="1"/>
          </p:cNvPicPr>
          <p:nvPr/>
        </p:nvPicPr>
        <p:blipFill>
          <a:blip r:embed="rId2"/>
          <a:stretch>
            <a:fillRect/>
          </a:stretch>
        </p:blipFill>
        <p:spPr>
          <a:xfrm>
            <a:off x="545465" y="2653030"/>
            <a:ext cx="3986530" cy="2242820"/>
          </a:xfrm>
          <a:prstGeom prst="rect">
            <a:avLst/>
          </a:prstGeom>
        </p:spPr>
      </p:pic>
    </p:spTree>
    <p:custDataLst>
      <p:tags r:id="rId3"/>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6" name="图片 5" descr="q."/>
          <p:cNvPicPr>
            <a:picLocks noChangeAspect="1"/>
          </p:cNvPicPr>
          <p:nvPr/>
        </p:nvPicPr>
        <p:blipFill>
          <a:blip r:embed="rId1"/>
          <a:stretch>
            <a:fillRect/>
          </a:stretch>
        </p:blipFill>
        <p:spPr>
          <a:xfrm>
            <a:off x="635" y="0"/>
            <a:ext cx="12192000" cy="6858000"/>
          </a:xfrm>
          <a:prstGeom prst="rect">
            <a:avLst/>
          </a:prstGeom>
        </p:spPr>
      </p:pic>
      <p:sp>
        <p:nvSpPr>
          <p:cNvPr id="4" name="文本框 3"/>
          <p:cNvSpPr txBox="1"/>
          <p:nvPr/>
        </p:nvSpPr>
        <p:spPr>
          <a:xfrm>
            <a:off x="4610735" y="2623185"/>
            <a:ext cx="3112770" cy="1014730"/>
          </a:xfrm>
          <a:prstGeom prst="rect">
            <a:avLst/>
          </a:prstGeom>
          <a:noFill/>
        </p:spPr>
        <p:txBody>
          <a:bodyPr wrap="none" rtlCol="0">
            <a:spAutoFit/>
          </a:bodyPr>
          <a:p>
            <a:pPr algn="l"/>
            <a:r>
              <a:rPr lang="en-US" altLang="zh-CN" sz="6000">
                <a:solidFill>
                  <a:srgbClr val="846749"/>
                </a:solidFill>
                <a:latin typeface="思源宋体 CN Heavy" panose="02020900000000000000" charset="-122"/>
                <a:ea typeface="思源宋体 CN Heavy" panose="02020900000000000000" charset="-122"/>
                <a:cs typeface="HarmonyOS Sans SC Medium" panose="00000600000000000000" charset="-122"/>
              </a:rPr>
              <a:t>Chapter 4</a:t>
            </a:r>
            <a:endParaRPr lang="en-US" altLang="zh-CN" sz="60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sp>
        <p:nvSpPr>
          <p:cNvPr id="32" name="稻壳夜秋https://www.docer.com/works?userid=555357443"/>
          <p:cNvSpPr txBox="1"/>
          <p:nvPr/>
        </p:nvSpPr>
        <p:spPr>
          <a:xfrm>
            <a:off x="4350385" y="3803650"/>
            <a:ext cx="3632835" cy="460375"/>
          </a:xfrm>
          <a:prstGeom prst="rect">
            <a:avLst/>
          </a:prstGeom>
          <a:noFill/>
        </p:spPr>
        <p:txBody>
          <a:bodyPr wrap="square" rtlCol="0">
            <a:spAutoFit/>
          </a:bodyPr>
          <a:p>
            <a:pPr algn="ct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Result </a:t>
            </a: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Analysis</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7" name="椭圆 6"/>
          <p:cNvSpPr/>
          <p:nvPr/>
        </p:nvSpPr>
        <p:spPr>
          <a:xfrm>
            <a:off x="3713480" y="1079500"/>
            <a:ext cx="4826000" cy="4826000"/>
          </a:xfrm>
          <a:prstGeom prst="ellipse">
            <a:avLst/>
          </a:prstGeom>
          <a:noFill/>
          <a:ln>
            <a:solidFill>
              <a:srgbClr val="846749">
                <a:alpha val="1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HarmonyOS Sans SC Medium" panose="00000600000000000000" charset="-122"/>
            </a:endParaRPr>
          </a:p>
        </p:txBody>
      </p:sp>
    </p:spTree>
    <p:custDataLst>
      <p:tags r:id="rId2"/>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4"/>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917700" y="570865"/>
            <a:ext cx="5337810"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Result Analysis</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0" name="文本框 29"/>
          <p:cNvSpPr txBox="1"/>
          <p:nvPr/>
        </p:nvSpPr>
        <p:spPr>
          <a:xfrm>
            <a:off x="1028700" y="416560"/>
            <a:ext cx="792480" cy="829945"/>
          </a:xfrm>
          <a:prstGeom prst="rect">
            <a:avLst/>
          </a:prstGeom>
          <a:noFill/>
        </p:spPr>
        <p:txBody>
          <a:bodyPr wrap="none" rtlCol="0">
            <a:spAutoFit/>
          </a:bodyPr>
          <a:p>
            <a:r>
              <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rPr>
              <a:t>04</a:t>
            </a:r>
            <a:endPar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graphicFrame>
        <p:nvGraphicFramePr>
          <p:cNvPr id="4" name="表格 3"/>
          <p:cNvGraphicFramePr/>
          <p:nvPr>
            <p:custDataLst>
              <p:tags r:id="rId2"/>
            </p:custDataLst>
          </p:nvPr>
        </p:nvGraphicFramePr>
        <p:xfrm>
          <a:off x="1028700" y="1977390"/>
          <a:ext cx="10353040" cy="1752600"/>
        </p:xfrm>
        <a:graphic>
          <a:graphicData uri="http://schemas.openxmlformats.org/drawingml/2006/table">
            <a:tbl>
              <a:tblPr firstRow="1" bandRow="1">
                <a:tableStyleId>{BDBED569-4797-4DF1-A0F4-6AAB3CD982D8}</a:tableStyleId>
              </a:tblPr>
              <a:tblGrid>
                <a:gridCol w="2588260"/>
                <a:gridCol w="2588260"/>
                <a:gridCol w="2588260"/>
                <a:gridCol w="2588260"/>
              </a:tblGrid>
              <a:tr h="381000">
                <a:tc>
                  <a:txBody>
                    <a:bodyPr/>
                    <a:p>
                      <a:pPr algn="ctr">
                        <a:buClrTx/>
                        <a:buSzTx/>
                        <a:buFontTx/>
                        <a:buNone/>
                      </a:pPr>
                      <a:r>
                        <a:rPr lang="en-US" altLang="zh-CN" sz="1200"/>
                        <a:t>Technique</a:t>
                      </a:r>
                      <a:endParaRPr lang="en-US" altLang="zh-CN" sz="1200"/>
                    </a:p>
                  </a:txBody>
                  <a:tcPr anchor="ctr" anchorCtr="0"/>
                </a:tc>
                <a:tc>
                  <a:txBody>
                    <a:bodyPr/>
                    <a:p>
                      <a:pPr algn="ctr">
                        <a:buClrTx/>
                        <a:buSzTx/>
                        <a:buFontTx/>
                        <a:buNone/>
                      </a:pPr>
                      <a:r>
                        <a:rPr lang="en-US" altLang="zh-CN" sz="1200"/>
                        <a:t>Defect Found</a:t>
                      </a:r>
                      <a:endParaRPr lang="en-US" altLang="zh-CN" sz="1200"/>
                    </a:p>
                  </a:txBody>
                  <a:tcPr anchor="ctr" anchorCtr="0"/>
                </a:tc>
                <a:tc>
                  <a:txBody>
                    <a:bodyPr/>
                    <a:p>
                      <a:pPr algn="ctr">
                        <a:buClrTx/>
                        <a:buSzTx/>
                        <a:buFontTx/>
                        <a:buNone/>
                      </a:pPr>
                      <a:r>
                        <a:rPr lang="en-US" altLang="zh-CN" sz="1200"/>
                        <a:t>Observed Behaviour</a:t>
                      </a:r>
                      <a:endParaRPr lang="en-US" altLang="zh-CN" sz="1200"/>
                    </a:p>
                  </a:txBody>
                  <a:tcPr anchor="ctr" anchorCtr="0"/>
                </a:tc>
                <a:tc>
                  <a:txBody>
                    <a:bodyPr/>
                    <a:p>
                      <a:pPr algn="ctr">
                        <a:buClrTx/>
                        <a:buSzTx/>
                        <a:buFontTx/>
                        <a:buNone/>
                      </a:pPr>
                      <a:r>
                        <a:rPr lang="en-US" altLang="zh-CN" sz="1200"/>
                        <a:t>Repair</a:t>
                      </a:r>
                      <a:endParaRPr lang="en-US" altLang="zh-CN" sz="1200"/>
                    </a:p>
                  </a:txBody>
                  <a:tcPr anchor="ctr" anchorCtr="0"/>
                </a:tc>
              </a:tr>
              <a:tr h="381000">
                <a:tc>
                  <a:txBody>
                    <a:bodyPr/>
                    <a:p>
                      <a:pPr algn="ctr">
                        <a:buClrTx/>
                        <a:buSzTx/>
                        <a:buFontTx/>
                        <a:buNone/>
                      </a:pPr>
                      <a:r>
                        <a:rPr lang="en-US" altLang="zh-CN" sz="1200"/>
                        <a:t>Boundary Value Analysis</a:t>
                      </a:r>
                      <a:endParaRPr lang="en-US" altLang="zh-CN" sz="1200"/>
                    </a:p>
                  </a:txBody>
                  <a:tcPr anchor="ctr" anchorCtr="0"/>
                </a:tc>
                <a:tc>
                  <a:txBody>
                    <a:bodyPr/>
                    <a:p>
                      <a:pPr algn="ctr">
                        <a:buClrTx/>
                        <a:buSzTx/>
                        <a:buFontTx/>
                        <a:buNone/>
                      </a:pPr>
                      <a:r>
                        <a:rPr lang="en-US" altLang="zh-CN" sz="1200"/>
                        <a:t>Missing quantity validation</a:t>
                      </a:r>
                      <a:endParaRPr lang="en-US" altLang="zh-CN" sz="1200"/>
                    </a:p>
                  </a:txBody>
                  <a:tcPr anchor="ctr" anchorCtr="0"/>
                </a:tc>
                <a:tc>
                  <a:txBody>
                    <a:bodyPr/>
                    <a:p>
                      <a:pPr algn="ctr">
                        <a:buClrTx/>
                        <a:buSzTx/>
                        <a:buFontTx/>
                        <a:buNone/>
                      </a:pPr>
                      <a:r>
                        <a:rPr lang="en-US" altLang="zh-CN" sz="1200"/>
                        <a:t>quantity = 0 accepted </a:t>
                      </a:r>
                      <a:endParaRPr lang="en-US" altLang="zh-CN" sz="1200"/>
                    </a:p>
                    <a:p>
                      <a:pPr algn="ctr">
                        <a:buClrTx/>
                        <a:buSzTx/>
                        <a:buFontTx/>
                        <a:buNone/>
                      </a:pPr>
                      <a:r>
                        <a:rPr lang="en-US" altLang="zh-CN" sz="1200"/>
                        <a:t>(201 returned)</a:t>
                      </a:r>
                      <a:endParaRPr lang="en-US" altLang="zh-CN" sz="1200"/>
                    </a:p>
                  </a:txBody>
                  <a:tcPr anchor="ctr" anchorCtr="0"/>
                </a:tc>
                <a:tc>
                  <a:txBody>
                    <a:bodyPr/>
                    <a:p>
                      <a:pPr algn="ctr">
                        <a:buClrTx/>
                        <a:buSzTx/>
                        <a:buFontTx/>
                        <a:buNone/>
                      </a:pPr>
                      <a:r>
                        <a:rPr lang="en-US" altLang="zh-CN" sz="1200"/>
                        <a:t>Reject non-positive quantity (400)</a:t>
                      </a:r>
                      <a:endParaRPr lang="en-US" altLang="zh-CN" sz="1200"/>
                    </a:p>
                  </a:txBody>
                  <a:tcPr anchor="ctr" anchorCtr="0"/>
                </a:tc>
              </a:tr>
              <a:tr h="381000">
                <a:tc>
                  <a:txBody>
                    <a:bodyPr/>
                    <a:p>
                      <a:pPr algn="ctr">
                        <a:buClrTx/>
                        <a:buSzTx/>
                        <a:buFontTx/>
                        <a:buNone/>
                      </a:pPr>
                      <a:r>
                        <a:rPr lang="en-US" altLang="zh-CN" sz="1200"/>
                        <a:t>Decision Table Testing</a:t>
                      </a:r>
                      <a:endParaRPr lang="en-US" altLang="zh-CN" sz="1200"/>
                    </a:p>
                  </a:txBody>
                  <a:tcPr anchor="ctr" anchorCtr="0"/>
                </a:tc>
                <a:tc>
                  <a:txBody>
                    <a:bodyPr/>
                    <a:p>
                      <a:pPr algn="ctr">
                        <a:buClrTx/>
                        <a:buSzTx/>
                        <a:buFontTx/>
                        <a:buNone/>
                      </a:pPr>
                      <a:r>
                        <a:rPr lang="en-US" altLang="zh-CN" sz="1200"/>
                        <a:t>Multi-item order atomicity defect</a:t>
                      </a:r>
                      <a:endParaRPr lang="en-US" altLang="zh-CN" sz="1200"/>
                    </a:p>
                  </a:txBody>
                  <a:tcPr anchor="ctr" anchorCtr="0"/>
                </a:tc>
                <a:tc>
                  <a:txBody>
                    <a:bodyPr/>
                    <a:p>
                      <a:pPr algn="ctr">
                        <a:buClrTx/>
                        <a:buSzTx/>
                        <a:buFontTx/>
                        <a:buNone/>
                      </a:pPr>
                      <a:r>
                        <a:rPr lang="en-US" altLang="zh-CN" sz="1200"/>
                        <a:t>Failed order returned 400 but inventory still decreased</a:t>
                      </a:r>
                      <a:endParaRPr lang="en-US" altLang="zh-CN" sz="1200"/>
                    </a:p>
                  </a:txBody>
                  <a:tcPr anchor="ctr" anchorCtr="0"/>
                </a:tc>
                <a:tc>
                  <a:txBody>
                    <a:bodyPr/>
                    <a:p>
                      <a:pPr algn="ctr">
                        <a:buClrTx/>
                        <a:buSzTx/>
                        <a:buFontTx/>
                        <a:buNone/>
                      </a:pPr>
                      <a:r>
                        <a:rPr lang="en-US" altLang="zh-CN" sz="1200"/>
                        <a:t>Transaction rollback for partial failures</a:t>
                      </a:r>
                      <a:endParaRPr lang="en-US" altLang="zh-CN" sz="1200"/>
                    </a:p>
                  </a:txBody>
                  <a:tcPr anchor="ctr" anchorCtr="0"/>
                </a:tc>
              </a:tr>
              <a:tr h="381000">
                <a:tc>
                  <a:txBody>
                    <a:bodyPr/>
                    <a:p>
                      <a:pPr algn="ctr">
                        <a:buClrTx/>
                        <a:buSzTx/>
                        <a:buFontTx/>
                        <a:buNone/>
                      </a:pPr>
                      <a:r>
                        <a:rPr lang="en-US" altLang="zh-CN" sz="1200"/>
                        <a:t>State-Transition Testing</a:t>
                      </a:r>
                      <a:endParaRPr lang="en-US" altLang="zh-CN" sz="1200"/>
                    </a:p>
                  </a:txBody>
                  <a:tcPr anchor="ctr" anchorCtr="0"/>
                </a:tc>
                <a:tc>
                  <a:txBody>
                    <a:bodyPr/>
                    <a:p>
                      <a:pPr algn="ctr">
                        <a:buClrTx/>
                        <a:buSzTx/>
                        <a:buFontTx/>
                        <a:buNone/>
                      </a:pPr>
                      <a:r>
                        <a:rPr lang="en-US" altLang="zh-CN" sz="1200"/>
                        <a:t>Missing terminal-state guard</a:t>
                      </a:r>
                      <a:endParaRPr lang="en-US" altLang="zh-CN" sz="1200"/>
                    </a:p>
                  </a:txBody>
                  <a:tcPr anchor="ctr" anchorCtr="0"/>
                </a:tc>
                <a:tc>
                  <a:txBody>
                    <a:bodyPr/>
                    <a:p>
                      <a:pPr algn="ctr">
                        <a:buClrTx/>
                        <a:buSzTx/>
                        <a:buFontTx/>
                        <a:buNone/>
                      </a:pPr>
                      <a:r>
                        <a:rPr lang="en-US" altLang="zh-CN" sz="1200"/>
                        <a:t>Completed orders could still be cancelled</a:t>
                      </a:r>
                      <a:endParaRPr lang="en-US" altLang="zh-CN" sz="1200"/>
                    </a:p>
                  </a:txBody>
                  <a:tcPr anchor="ctr" anchorCtr="0"/>
                </a:tc>
                <a:tc>
                  <a:txBody>
                    <a:bodyPr/>
                    <a:p>
                      <a:pPr algn="ctr">
                        <a:buClrTx/>
                        <a:buSzTx/>
                        <a:buFontTx/>
                        <a:buNone/>
                      </a:pPr>
                      <a:r>
                        <a:rPr lang="en-US" altLang="zh-CN" sz="1200"/>
                        <a:t>Reject illegal state transitions</a:t>
                      </a:r>
                      <a:endParaRPr lang="en-US" altLang="zh-CN" sz="1200"/>
                    </a:p>
                  </a:txBody>
                  <a:tcPr anchor="ctr" anchorCtr="0"/>
                </a:tc>
              </a:tr>
            </a:tbl>
          </a:graphicData>
        </a:graphic>
      </p:graphicFrame>
      <p:sp>
        <p:nvSpPr>
          <p:cNvPr id="5" name="文本框 4"/>
          <p:cNvSpPr txBox="1"/>
          <p:nvPr/>
        </p:nvSpPr>
        <p:spPr>
          <a:xfrm>
            <a:off x="1028700" y="1381760"/>
            <a:ext cx="8601710" cy="460375"/>
          </a:xfrm>
          <a:prstGeom prst="rect">
            <a:avLst/>
          </a:prstGeom>
          <a:noFill/>
        </p:spPr>
        <p:txBody>
          <a:bodyPr wrap="square" rtlCol="0">
            <a:spAutoFit/>
          </a:bodyPr>
          <a:p>
            <a:pPr algn="l">
              <a:buClrTx/>
              <a:buSzTx/>
              <a:buFontTx/>
            </a:pP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rPr>
              <a:t>Evidence: Real Defects Found by Multiple Techniques</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6" name="文本框 5"/>
          <p:cNvSpPr txBox="1"/>
          <p:nvPr/>
        </p:nvSpPr>
        <p:spPr>
          <a:xfrm>
            <a:off x="1028700" y="4154170"/>
            <a:ext cx="4768850" cy="460375"/>
          </a:xfrm>
          <a:prstGeom prst="rect">
            <a:avLst/>
          </a:prstGeom>
          <a:noFill/>
        </p:spPr>
        <p:txBody>
          <a:bodyPr wrap="square" rtlCol="0">
            <a:spAutoFit/>
          </a:bodyPr>
          <a:p>
            <a:pPr algn="l">
              <a:buClrTx/>
              <a:buSzTx/>
              <a:buFontTx/>
            </a:pPr>
            <a:r>
              <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rPr>
              <a:t>White-Box Defect Matters Most</a:t>
            </a:r>
            <a:endParaRPr lang="en-US" altLang="zh-CN" sz="24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8" name="文本框 7"/>
          <p:cNvSpPr txBox="1"/>
          <p:nvPr/>
        </p:nvSpPr>
        <p:spPr>
          <a:xfrm>
            <a:off x="1028700" y="4634230"/>
            <a:ext cx="10993755" cy="1861185"/>
          </a:xfrm>
          <a:prstGeom prst="rect">
            <a:avLst/>
          </a:prstGeom>
        </p:spPr>
        <p:txBody>
          <a:bodyPr wrap="square">
            <a:spAutoFit/>
          </a:bodyPr>
          <a:p>
            <a:pPr algn="l">
              <a:lnSpc>
                <a:spcPct val="160000"/>
              </a:lnSpc>
              <a:buClrTx/>
              <a:buSzTx/>
              <a:buFontTx/>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The strongest evidence comes from state-transition testing.</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The order status itself is not invalid — values such as completed and cancelled are both legal states individually. The defect only appears when an illegal transition occurs between states.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Traditional input-output testing validates values in isolation, but state-transition testing explicitly models allowed workflow paths and therefore exposes missing transition guards.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Mutation validation further confirms that the tests are meaningful: removing terminal-state protection causes the state-transition tests to fail again.</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Tree>
    <p:custDataLst>
      <p:tags r:id="rId3"/>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4"/>
          <p:cNvPicPr>
            <a:picLocks noChangeAspect="1"/>
          </p:cNvPicPr>
          <p:nvPr/>
        </p:nvPicPr>
        <p:blipFill>
          <a:blip r:embed="rId1"/>
          <a:stretch>
            <a:fillRect/>
          </a:stretch>
        </p:blipFill>
        <p:spPr>
          <a:xfrm>
            <a:off x="0" y="0"/>
            <a:ext cx="12192000" cy="6858000"/>
          </a:xfrm>
          <a:prstGeom prst="rect">
            <a:avLst/>
          </a:prstGeom>
        </p:spPr>
      </p:pic>
      <p:sp>
        <p:nvSpPr>
          <p:cNvPr id="32" name="稻壳夜秋https://www.docer.com/works?userid=555357443"/>
          <p:cNvSpPr txBox="1"/>
          <p:nvPr/>
        </p:nvSpPr>
        <p:spPr>
          <a:xfrm>
            <a:off x="1917700" y="570865"/>
            <a:ext cx="5337810" cy="583565"/>
          </a:xfrm>
          <a:prstGeom prst="rect">
            <a:avLst/>
          </a:prstGeom>
          <a:noFill/>
        </p:spPr>
        <p:txBody>
          <a:bodyPr wrap="square" rtlCol="0">
            <a:spAutoFit/>
          </a:bodyPr>
          <a:p>
            <a:r>
              <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Result Analysis</a:t>
            </a:r>
            <a:endParaRPr lang="en-US" altLang="zh-CN" sz="320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endParaRPr>
          </a:p>
        </p:txBody>
      </p:sp>
      <p:sp>
        <p:nvSpPr>
          <p:cNvPr id="30" name="文本框 29"/>
          <p:cNvSpPr txBox="1"/>
          <p:nvPr/>
        </p:nvSpPr>
        <p:spPr>
          <a:xfrm>
            <a:off x="1028700" y="416560"/>
            <a:ext cx="792480" cy="829945"/>
          </a:xfrm>
          <a:prstGeom prst="rect">
            <a:avLst/>
          </a:prstGeom>
          <a:noFill/>
        </p:spPr>
        <p:txBody>
          <a:bodyPr wrap="none" rtlCol="0">
            <a:spAutoFit/>
          </a:bodyPr>
          <a:p>
            <a:r>
              <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rPr>
              <a:t>04</a:t>
            </a:r>
            <a:endPar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graphicFrame>
        <p:nvGraphicFramePr>
          <p:cNvPr id="4" name="表格 3"/>
          <p:cNvGraphicFramePr/>
          <p:nvPr>
            <p:custDataLst>
              <p:tags r:id="rId2"/>
            </p:custDataLst>
          </p:nvPr>
        </p:nvGraphicFramePr>
        <p:xfrm>
          <a:off x="1028700" y="1800225"/>
          <a:ext cx="10353040" cy="1752600"/>
        </p:xfrm>
        <a:graphic>
          <a:graphicData uri="http://schemas.openxmlformats.org/drawingml/2006/table">
            <a:tbl>
              <a:tblPr firstRow="1" bandRow="1">
                <a:tableStyleId>{BDBED569-4797-4DF1-A0F4-6AAB3CD982D8}</a:tableStyleId>
              </a:tblPr>
              <a:tblGrid>
                <a:gridCol w="2588260"/>
                <a:gridCol w="2588260"/>
              </a:tblGrid>
              <a:tr h="381000">
                <a:tc>
                  <a:txBody>
                    <a:bodyPr/>
                    <a:p>
                      <a:pPr algn="ctr">
                        <a:buClrTx/>
                        <a:buSzTx/>
                        <a:buFontTx/>
                        <a:buNone/>
                      </a:pPr>
                      <a:r>
                        <a:rPr lang="en-US" altLang="zh-CN" sz="1200"/>
                        <a:t>Approach</a:t>
                      </a:r>
                      <a:endParaRPr lang="en-US" altLang="zh-CN" sz="1200"/>
                    </a:p>
                  </a:txBody>
                  <a:tcPr anchor="ctr" anchorCtr="0"/>
                </a:tc>
                <a:tc>
                  <a:txBody>
                    <a:bodyPr/>
                    <a:p>
                      <a:pPr algn="ctr">
                        <a:buClrTx/>
                        <a:buSzTx/>
                        <a:buFontTx/>
                        <a:buNone/>
                      </a:pPr>
                      <a:r>
                        <a:rPr lang="en-US" altLang="zh-CN" sz="1200"/>
                        <a:t>Person-Hours</a:t>
                      </a:r>
                      <a:endParaRPr lang="en-US" altLang="zh-CN" sz="1200"/>
                    </a:p>
                  </a:txBody>
                  <a:tcPr anchor="ctr" anchorCtr="0"/>
                </a:tc>
              </a:tr>
              <a:tr h="381000">
                <a:tc>
                  <a:txBody>
                    <a:bodyPr/>
                    <a:p>
                      <a:pPr algn="ctr">
                        <a:buClrTx/>
                        <a:buSzTx/>
                        <a:buFontTx/>
                        <a:buNone/>
                      </a:pPr>
                      <a:r>
                        <a:rPr lang="en-US" altLang="zh-CN" sz="1200"/>
                        <a:t>Manual Test Design + Execution</a:t>
                      </a:r>
                      <a:endParaRPr lang="en-US" altLang="zh-CN" sz="1200"/>
                    </a:p>
                  </a:txBody>
                  <a:tcPr anchor="ctr" anchorCtr="0"/>
                </a:tc>
                <a:tc>
                  <a:txBody>
                    <a:bodyPr/>
                    <a:p>
                      <a:pPr algn="ctr">
                        <a:buClrTx/>
                        <a:buSzTx/>
                        <a:buFontTx/>
                        <a:buNone/>
                      </a:pPr>
                      <a:r>
                        <a:rPr lang="en-US" altLang="zh-CN" sz="1200"/>
                        <a:t>20.0</a:t>
                      </a:r>
                      <a:endParaRPr lang="en-US" altLang="zh-CN" sz="1200"/>
                    </a:p>
                  </a:txBody>
                  <a:tcPr anchor="ctr" anchorCtr="0"/>
                </a:tc>
              </a:tr>
              <a:tr h="381000">
                <a:tc>
                  <a:txBody>
                    <a:bodyPr/>
                    <a:p>
                      <a:pPr algn="ctr">
                        <a:buClrTx/>
                        <a:buSzTx/>
                        <a:buFontTx/>
                        <a:buNone/>
                      </a:pPr>
                      <a:r>
                        <a:rPr lang="en-US" altLang="zh-CN" sz="1200"/>
                        <a:t>AutoTestDesign Workflow</a:t>
                      </a:r>
                      <a:endParaRPr lang="en-US" altLang="zh-CN" sz="1200"/>
                    </a:p>
                  </a:txBody>
                  <a:tcPr anchor="ctr" anchorCtr="0"/>
                </a:tc>
                <a:tc>
                  <a:txBody>
                    <a:bodyPr/>
                    <a:p>
                      <a:pPr algn="ctr">
                        <a:buClrTx/>
                        <a:buSzTx/>
                        <a:buFontTx/>
                        <a:buNone/>
                      </a:pPr>
                      <a:r>
                        <a:rPr lang="en-US" altLang="zh-CN" sz="1200"/>
                        <a:t>2.55</a:t>
                      </a:r>
                      <a:endParaRPr lang="en-US" altLang="zh-CN" sz="1200"/>
                    </a:p>
                  </a:txBody>
                  <a:tcPr anchor="ctr" anchorCtr="0"/>
                </a:tc>
              </a:tr>
              <a:tr h="381000">
                <a:tc>
                  <a:txBody>
                    <a:bodyPr/>
                    <a:p>
                      <a:pPr algn="ctr">
                        <a:buClrTx/>
                        <a:buSzTx/>
                        <a:buFontTx/>
                        <a:buNone/>
                      </a:pPr>
                      <a:r>
                        <a:rPr lang="en-US" altLang="zh-CN" sz="1200"/>
                        <a:t>Estimated Reduction</a:t>
                      </a:r>
                      <a:endParaRPr lang="en-US" altLang="zh-CN" sz="1200"/>
                    </a:p>
                  </a:txBody>
                  <a:tcPr anchor="ctr" anchorCtr="0"/>
                </a:tc>
                <a:tc>
                  <a:txBody>
                    <a:bodyPr/>
                    <a:p>
                      <a:pPr algn="ctr">
                        <a:buClrTx/>
                        <a:buSzTx/>
                        <a:buFontTx/>
                        <a:buNone/>
                      </a:pPr>
                      <a:r>
                        <a:rPr lang="en-US" altLang="zh-CN" sz="1200"/>
                        <a:t>~87%</a:t>
                      </a:r>
                      <a:endParaRPr lang="en-US" altLang="zh-CN" sz="1200"/>
                    </a:p>
                  </a:txBody>
                  <a:tcPr anchor="ctr" anchorCtr="0"/>
                </a:tc>
              </a:tr>
            </a:tbl>
          </a:graphicData>
        </a:graphic>
      </p:graphicFrame>
      <p:sp>
        <p:nvSpPr>
          <p:cNvPr id="5" name="文本框 4"/>
          <p:cNvSpPr txBox="1"/>
          <p:nvPr/>
        </p:nvSpPr>
        <p:spPr>
          <a:xfrm>
            <a:off x="1028700" y="1206500"/>
            <a:ext cx="4768850" cy="553085"/>
          </a:xfrm>
          <a:prstGeom prst="rect">
            <a:avLst/>
          </a:prstGeom>
          <a:noFill/>
        </p:spPr>
        <p:txBody>
          <a:bodyPr wrap="square" rtlCol="0">
            <a:spAutoFit/>
          </a:bodyPr>
          <a:p>
            <a:pPr algn="l">
              <a:buClrTx/>
              <a:buSzTx/>
              <a:buFontTx/>
            </a:pPr>
            <a:r>
              <a:rPr lang="en-US" altLang="zh-CN">
                <a:solidFill>
                  <a:srgbClr val="846749"/>
                </a:solidFill>
                <a:latin typeface="HarmonyOS Sans SC Medium" panose="00000600000000000000" charset="-122"/>
                <a:ea typeface="HarmonyOS Sans SC Medium" panose="00000600000000000000" charset="-122"/>
                <a:cs typeface="HarmonyOS Sans SC Medium" panose="00000600000000000000" charset="-122"/>
              </a:rPr>
              <a:t>Per-project effort</a:t>
            </a:r>
            <a:endParaRPr lang="en-US" altLang="zh-CN">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buClrTx/>
              <a:buSzTx/>
              <a:buFontTx/>
            </a:pPr>
            <a:r>
              <a:rPr lang="en-US" altLang="zh-CN" sz="1200">
                <a:solidFill>
                  <a:srgbClr val="846749"/>
                </a:solidFill>
                <a:latin typeface="HarmonyOS Sans SC Medium" panose="00000600000000000000" charset="-122"/>
                <a:ea typeface="HarmonyOS Sans SC Medium" panose="00000600000000000000" charset="-122"/>
                <a:cs typeface="HarmonyOS Sans SC Medium" panose="00000600000000000000" charset="-122"/>
              </a:rPr>
              <a:t>(</a:t>
            </a: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mn-ea"/>
              </a:rPr>
              <a:t>Measured against the Mini-E-Commerce dataset</a:t>
            </a:r>
            <a:r>
              <a:rPr lang="en-US" altLang="zh-CN" sz="1200">
                <a:solidFill>
                  <a:srgbClr val="846749"/>
                </a:solidFill>
                <a:latin typeface="HarmonyOS Sans SC Medium" panose="00000600000000000000" charset="-122"/>
                <a:ea typeface="HarmonyOS Sans SC Medium" panose="00000600000000000000" charset="-122"/>
                <a:cs typeface="HarmonyOS Sans SC Medium" panose="00000600000000000000" charset="-122"/>
              </a:rPr>
              <a:t>)</a:t>
            </a:r>
            <a:endParaRPr lang="en-US" altLang="zh-CN" sz="12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3" name="文本框 2"/>
          <p:cNvSpPr txBox="1"/>
          <p:nvPr/>
        </p:nvSpPr>
        <p:spPr>
          <a:xfrm>
            <a:off x="1028700" y="3344545"/>
            <a:ext cx="5337175" cy="1271270"/>
          </a:xfrm>
          <a:prstGeom prst="rect">
            <a:avLst/>
          </a:prstGeom>
        </p:spPr>
        <p:txBody>
          <a:bodyPr wrap="square">
            <a:spAutoFit/>
          </a:bodyPr>
          <a:p>
            <a:pPr algn="l">
              <a:lnSpc>
                <a:spcPct val="160000"/>
              </a:lnSpc>
              <a:buClrTx/>
              <a:buSzTx/>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Effort estimates are derived from the workflow model defined in cost_estimation.md. The reduction primarily comes from automating requirement analysis, coverage generation, test construction, and execution orchestration.</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7" name="文本框 6"/>
          <p:cNvSpPr txBox="1"/>
          <p:nvPr/>
        </p:nvSpPr>
        <p:spPr>
          <a:xfrm>
            <a:off x="6486525" y="1308735"/>
            <a:ext cx="4768850" cy="368300"/>
          </a:xfrm>
          <a:prstGeom prst="rect">
            <a:avLst/>
          </a:prstGeom>
          <a:noFill/>
        </p:spPr>
        <p:txBody>
          <a:bodyPr wrap="square" rtlCol="0">
            <a:spAutoFit/>
          </a:bodyPr>
          <a:p>
            <a:pPr algn="l">
              <a:buClrTx/>
              <a:buSzTx/>
              <a:buFontTx/>
            </a:pPr>
            <a:r>
              <a:rPr lang="en-US" altLang="zh-CN" sz="1800">
                <a:solidFill>
                  <a:srgbClr val="846749"/>
                </a:solidFill>
                <a:latin typeface="HarmonyOS Sans SC Medium" panose="00000600000000000000" charset="-122"/>
                <a:ea typeface="HarmonyOS Sans SC Medium" panose="00000600000000000000" charset="-122"/>
                <a:cs typeface="HarmonyOS Sans SC Medium" panose="00000600000000000000" charset="-122"/>
              </a:rPr>
              <a:t>Operating cost</a:t>
            </a:r>
            <a:endParaRPr lang="en-US" altLang="zh-CN" sz="18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9" name="文本框 8"/>
          <p:cNvSpPr txBox="1"/>
          <p:nvPr/>
        </p:nvSpPr>
        <p:spPr>
          <a:xfrm>
            <a:off x="6485890" y="1677352"/>
            <a:ext cx="5080000" cy="2451100"/>
          </a:xfrm>
          <a:prstGeom prst="rect">
            <a:avLst/>
          </a:prstGeom>
        </p:spPr>
        <p:txBody>
          <a:bodyPr>
            <a:spAutoFit/>
          </a:bodyPr>
          <a:p>
            <a:pPr algn="l">
              <a:lnSpc>
                <a:spcPct val="160000"/>
              </a:lnSpc>
              <a:buClrTx/>
              <a:buSzTx/>
              <a:buFontTx/>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Benchmark measurements are generated automatically using scripts/benchmark.py.</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Measured full-suite execution requires: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buNone/>
            </a:pPr>
            <a:r>
              <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LLM tokens per full run:</a:t>
            </a: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 37,153 (input 12,193 / output 24,960).</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buNone/>
            </a:pPr>
            <a:r>
              <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LLM cost:</a:t>
            </a: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 ≈ </a:t>
            </a:r>
            <a:r>
              <a:rPr lang="en-US" altLang="en-US"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a:t>
            </a: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0.194 standard / ≈ </a:t>
            </a:r>
            <a:r>
              <a:rPr lang="en-US" altLang="en-US"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a:t>
            </a: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0.097 batch.</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buNone/>
            </a:pPr>
            <a:r>
              <a:rPr lang="en-US" altLang="zh-CN" sz="1200" b="1"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Generation latency:</a:t>
            </a: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 ≈ 1 ms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FontTx/>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The measured latency satisfies the 2-second target with substantial margin.</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10" name="文本框 9"/>
          <p:cNvSpPr txBox="1"/>
          <p:nvPr/>
        </p:nvSpPr>
        <p:spPr>
          <a:xfrm>
            <a:off x="1028700" y="4584383"/>
            <a:ext cx="5080000" cy="368300"/>
          </a:xfrm>
          <a:prstGeom prst="rect">
            <a:avLst/>
          </a:prstGeom>
        </p:spPr>
        <p:txBody>
          <a:bodyPr>
            <a:spAutoFit/>
          </a:bodyPr>
          <a:p>
            <a:pPr algn="l">
              <a:buClrTx/>
              <a:buSzTx/>
              <a:buFontTx/>
            </a:pPr>
            <a:r>
              <a:rPr lang="en-US" altLang="zh-CN">
                <a:solidFill>
                  <a:srgbClr val="846749"/>
                </a:solidFill>
                <a:latin typeface="HarmonyOS Sans SC Medium" panose="00000600000000000000" charset="-122"/>
                <a:ea typeface="HarmonyOS Sans SC Medium" panose="00000600000000000000" charset="-122"/>
                <a:cs typeface="HarmonyOS Sans SC Medium" panose="00000600000000000000" charset="-122"/>
              </a:rPr>
              <a:t>Generalisability</a:t>
            </a:r>
            <a:endParaRPr lang="en-US" altLang="zh-CN">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11" name="文本框 10"/>
          <p:cNvSpPr txBox="1"/>
          <p:nvPr/>
        </p:nvSpPr>
        <p:spPr>
          <a:xfrm>
            <a:off x="1028700" y="4828540"/>
            <a:ext cx="5175885" cy="1861185"/>
          </a:xfrm>
          <a:prstGeom prst="rect">
            <a:avLst/>
          </a:prstGeom>
        </p:spPr>
        <p:txBody>
          <a:bodyPr wrap="square">
            <a:spAutoFit/>
          </a:bodyPr>
          <a:p>
            <a:pPr algn="l">
              <a:lnSpc>
                <a:spcPct val="160000"/>
              </a:lnSpc>
              <a:buClrTx/>
              <a:buSzTx/>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The workflow is application-agnostic, supporting another backend primarily requires: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marL="171450" indent="-171450" algn="l">
              <a:lnSpc>
                <a:spcPct val="160000"/>
              </a:lnSpc>
              <a:buClrTx/>
              <a:buSzTx/>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Replacing requirement inputs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marL="171450" indent="-171450" algn="l">
              <a:lnSpc>
                <a:spcPct val="160000"/>
              </a:lnSpc>
              <a:buClrTx/>
              <a:buSzTx/>
              <a:buFont typeface="Arial" panose="020B0604020202090204" pitchFamily="34" charset="0"/>
              <a:buChar char="•"/>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Updating request templates / adapters</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lgn="l">
              <a:lnSpc>
                <a:spcPct val="160000"/>
              </a:lnSpc>
              <a:buClrTx/>
              <a:buSzTx/>
              <a:buNone/>
            </a:pPr>
            <a:r>
              <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Coverage generation, optimisation, oracle construction, and execution remain reusable.</a:t>
            </a:r>
            <a:endParaRPr lang="en-US" altLang="zh-CN" sz="12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12" name="文本框 11"/>
          <p:cNvSpPr txBox="1"/>
          <p:nvPr/>
        </p:nvSpPr>
        <p:spPr>
          <a:xfrm>
            <a:off x="6486525" y="4339273"/>
            <a:ext cx="5080000" cy="368300"/>
          </a:xfrm>
          <a:prstGeom prst="rect">
            <a:avLst/>
          </a:prstGeom>
        </p:spPr>
        <p:txBody>
          <a:bodyPr>
            <a:spAutoFit/>
          </a:bodyPr>
          <a:p>
            <a:pPr algn="l">
              <a:buClrTx/>
              <a:buSzTx/>
              <a:buFontTx/>
            </a:pPr>
            <a:r>
              <a:rPr lang="en-US" altLang="zh-CN" sz="1800">
                <a:solidFill>
                  <a:srgbClr val="846749"/>
                </a:solidFill>
                <a:latin typeface="HarmonyOS Sans SC Medium" panose="00000600000000000000" charset="-122"/>
                <a:ea typeface="HarmonyOS Sans SC Medium" panose="00000600000000000000" charset="-122"/>
                <a:cs typeface="HarmonyOS Sans SC Medium" panose="00000600000000000000" charset="-122"/>
              </a:rPr>
              <a:t>Measurement Notes</a:t>
            </a:r>
            <a:endParaRPr lang="en-US" altLang="zh-CN" sz="180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
        <p:nvSpPr>
          <p:cNvPr id="13" name="文本框 12"/>
          <p:cNvSpPr txBox="1"/>
          <p:nvPr/>
        </p:nvSpPr>
        <p:spPr>
          <a:xfrm>
            <a:off x="6485890" y="4695190"/>
            <a:ext cx="5080000" cy="1783715"/>
          </a:xfrm>
          <a:prstGeom prst="rect">
            <a:avLst/>
          </a:prstGeom>
        </p:spPr>
        <p:txBody>
          <a:bodyPr>
            <a:spAutoFit/>
          </a:bodyPr>
          <a:p>
            <a:pPr>
              <a:buAutoNum type="arabicPeriod"/>
            </a:pPr>
            <a:r>
              <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Project-level statistics shown in this presentation are primarily derived from mini_ecommerce_requirements.json and artefacts stored under data/baseline/. Results may differ when requirements, datasets, or generated artefacts change.</a:t>
            </a:r>
            <a:endPar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buAutoNum type="arabicPeriod"/>
            </a:pPr>
            <a:endPar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buAutoNum type="arabicPeriod"/>
            </a:pPr>
            <a:r>
              <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Benchmark measurements are generated using benchmark.py; token usage, latency, and runtime statistics may vary across execution environments and measurement times.</a:t>
            </a:r>
            <a:endPar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buAutoNum type="arabicPeriod"/>
            </a:pPr>
            <a:endPar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a:p>
            <a:pPr>
              <a:buAutoNum type="arabicPeriod"/>
            </a:pPr>
            <a:r>
              <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rPr>
              <a:t>Reported person-hour estimates (Manual: 20.0 h, AutoTestDesign: 2.55 h) are based on the Mini-E-Commerce case study and should not be interpreted as universal values for other projects or domains.</a:t>
            </a:r>
            <a:endParaRPr lang="en-US" altLang="zh-CN" sz="1000" i="1" dirty="0">
              <a:solidFill>
                <a:srgbClr val="846749"/>
              </a:solidFill>
              <a:latin typeface="HarmonyOS Sans SC Medium" panose="00000600000000000000" charset="-122"/>
              <a:ea typeface="HarmonyOS Sans SC Medium" panose="00000600000000000000" charset="-122"/>
              <a:cs typeface="HarmonyOS Sans SC Medium" panose="00000600000000000000" charset="-122"/>
            </a:endParaRPr>
          </a:p>
        </p:txBody>
      </p:sp>
    </p:spTree>
    <p:custDataLst>
      <p:tags r:id="rId3"/>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q2"/>
          <p:cNvPicPr>
            <a:picLocks noChangeAspect="1"/>
          </p:cNvPicPr>
          <p:nvPr/>
        </p:nvPicPr>
        <p:blipFill>
          <a:blip r:embed="rId1"/>
          <a:stretch>
            <a:fillRect/>
          </a:stretch>
        </p:blipFill>
        <p:spPr>
          <a:xfrm>
            <a:off x="0" y="0"/>
            <a:ext cx="12192000" cy="6858000"/>
          </a:xfrm>
          <a:prstGeom prst="rect">
            <a:avLst/>
          </a:prstGeom>
        </p:spPr>
      </p:pic>
      <p:sp>
        <p:nvSpPr>
          <p:cNvPr id="4" name="文本框 3"/>
          <p:cNvSpPr txBox="1"/>
          <p:nvPr/>
        </p:nvSpPr>
        <p:spPr>
          <a:xfrm>
            <a:off x="2431415" y="2449195"/>
            <a:ext cx="7329170" cy="829945"/>
          </a:xfrm>
          <a:prstGeom prst="rect">
            <a:avLst/>
          </a:prstGeom>
          <a:noFill/>
        </p:spPr>
        <p:txBody>
          <a:bodyPr wrap="none" rtlCol="0">
            <a:spAutoFit/>
          </a:bodyPr>
          <a:p>
            <a:pPr algn="ctr">
              <a:buClrTx/>
              <a:buSzTx/>
              <a:buFontTx/>
            </a:pPr>
            <a:r>
              <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rPr>
              <a:t>Thank You for Your Attention</a:t>
            </a:r>
            <a:endParaRPr lang="en-US" altLang="zh-CN" sz="4800">
              <a:solidFill>
                <a:srgbClr val="846749"/>
              </a:solidFill>
              <a:latin typeface="思源宋体 CN Heavy" panose="02020900000000000000" charset="-122"/>
              <a:ea typeface="思源宋体 CN Heavy" panose="02020900000000000000" charset="-122"/>
              <a:cs typeface="HarmonyOS Sans SC Medium" panose="00000600000000000000" charset="-122"/>
            </a:endParaRPr>
          </a:p>
        </p:txBody>
      </p:sp>
      <p:cxnSp>
        <p:nvCxnSpPr>
          <p:cNvPr id="8" name="直接连接符 7"/>
          <p:cNvCxnSpPr/>
          <p:nvPr/>
        </p:nvCxnSpPr>
        <p:spPr>
          <a:xfrm>
            <a:off x="2502535" y="3402965"/>
            <a:ext cx="7194550" cy="0"/>
          </a:xfrm>
          <a:prstGeom prst="line">
            <a:avLst/>
          </a:prstGeom>
          <a:ln>
            <a:solidFill>
              <a:srgbClr val="846749"/>
            </a:solidFill>
          </a:ln>
        </p:spPr>
        <p:style>
          <a:lnRef idx="1">
            <a:schemeClr val="accent1"/>
          </a:lnRef>
          <a:fillRef idx="0">
            <a:schemeClr val="accent1"/>
          </a:fillRef>
          <a:effectRef idx="0">
            <a:schemeClr val="accent1"/>
          </a:effectRef>
          <a:fontRef idx="minor">
            <a:schemeClr val="tx1"/>
          </a:fontRef>
        </p:style>
      </p:cxnSp>
      <p:sp>
        <p:nvSpPr>
          <p:cNvPr id="3" name="TextBox 19"/>
          <p:cNvSpPr/>
          <p:nvPr/>
        </p:nvSpPr>
        <p:spPr>
          <a:xfrm>
            <a:off x="2439035" y="3663950"/>
            <a:ext cx="7228205" cy="805180"/>
          </a:xfrm>
          <a:prstGeom prst="rect">
            <a:avLst/>
          </a:prstGeom>
          <a:noFill/>
          <a:ln w="9525">
            <a:noFill/>
          </a:ln>
        </p:spPr>
        <p:txBody>
          <a:bodyPr wrap="square">
            <a:noAutofit/>
          </a:bodyPr>
          <a:p>
            <a:pPr algn="ctr">
              <a:lnSpc>
                <a:spcPct val="150000"/>
              </a:lnSpc>
              <a:buClr>
                <a:srgbClr val="E36C09"/>
              </a:buClr>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2353408   </a:t>
            </a:r>
            <a:r>
              <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周由</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2352191    </a:t>
            </a:r>
            <a:r>
              <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吴昀洁</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2354447   </a:t>
            </a:r>
            <a:r>
              <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陈萨宇</a:t>
            </a:r>
            <a:endPar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a:p>
            <a:pPr algn="ctr">
              <a:lnSpc>
                <a:spcPct val="150000"/>
              </a:lnSpc>
              <a:buClr>
                <a:srgbClr val="E36C09"/>
              </a:buClr>
            </a:pP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2353814   </a:t>
            </a:r>
            <a:r>
              <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马小龙</a:t>
            </a:r>
            <a:r>
              <a:rPr lang="en-US" altLang="zh-CN"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         2351707   </a:t>
            </a:r>
            <a:r>
              <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rPr>
              <a:t>马敏慧智</a:t>
            </a:r>
            <a:endParaRPr lang="zh-CN" altLang="en-US" sz="1400" dirty="0">
              <a:solidFill>
                <a:srgbClr val="846749"/>
              </a:solidFill>
              <a:latin typeface="HarmonyOS Sans SC Medium" panose="00000600000000000000" charset="-122"/>
              <a:ea typeface="HarmonyOS Sans SC Medium" panose="00000600000000000000" charset="-122"/>
              <a:cs typeface="HarmonyOS Sans SC Medium" panose="00000600000000000000" charset="-122"/>
              <a:sym typeface="HarmonyOS Sans SC Medium" panose="00000600000000000000" charset="-122"/>
            </a:endParaRPr>
          </a:p>
        </p:txBody>
      </p:sp>
    </p:spTree>
    <p:custDataLst>
      <p:tags r:id="rId2"/>
    </p:custDataLst>
  </p:cSld>
  <p:clrMapOvr>
    <a:masterClrMapping/>
  </p:clrMapOvr>
  <p:timing>
    <p:tnLst>
      <p:par>
        <p:cTn id="1" dur="indefinite" restart="never" nodeType="tmRoot"/>
      </p:par>
    </p:tnLst>
  </p:timing>
</p:sld>
</file>

<file path=ppt/tags/tag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3.xml><?xml version="1.0" encoding="utf-8"?>
<p:tagLst xmlns:p="http://schemas.openxmlformats.org/presentationml/2006/main">
  <p:tag name="KSO_WM_DIAGRAM_VIRTUALLY_FRAME" val="{&quot;height&quot;:169.7,&quot;left&quot;:172.45,&quot;top&quot;:216.05,&quot;width&quot;:703.95}"/>
</p:tagLst>
</file>

<file path=ppt/tags/tag4.xml><?xml version="1.0" encoding="utf-8"?>
<p:tagLst xmlns:p="http://schemas.openxmlformats.org/presentationml/2006/main">
  <p:tag name="KSO_WM_DIAGRAM_VIRTUALLY_FRAME" val="{&quot;height&quot;:169.7,&quot;left&quot;:172.45,&quot;top&quot;:216.05,&quot;width&quot;:703.95}"/>
</p:tagLst>
</file>

<file path=ppt/tags/tag5.xml><?xml version="1.0" encoding="utf-8"?>
<p:tagLst xmlns:p="http://schemas.openxmlformats.org/presentationml/2006/main">
  <p:tag name="KSO_WM_DIAGRAM_VIRTUALLY_FRAME" val="{&quot;height&quot;:169.7,&quot;left&quot;:172.45,&quot;top&quot;:216.05,&quot;width&quot;:703.95}"/>
</p:tagLst>
</file>

<file path=ppt/tags/tag6.xml><?xml version="1.0" encoding="utf-8"?>
<p:tagLst xmlns:p="http://schemas.openxmlformats.org/presentationml/2006/main">
  <p:tag name="KSO_WM_DIAGRAM_VIRTUALLY_FRAME" val="{&quot;height&quot;:169.7,&quot;left&quot;:172.45,&quot;top&quot;:216.05,&quot;width&quot;:703.95}"/>
</p:tagLst>
</file>

<file path=ppt/tags/tag7.xml><?xml version="1.0" encoding="utf-8"?>
<p:tagLst xmlns:p="http://schemas.openxmlformats.org/presentationml/2006/main">
  <p:tag name="KSO_WM_DIAGRAM_VIRTUALLY_FRAME" val="{&quot;height&quot;:169.7,&quot;left&quot;:172.45,&quot;top&quot;:216.05,&quot;width&quot;:703.95}"/>
</p:tagLst>
</file>

<file path=ppt/tags/tag8.xml><?xml version="1.0" encoding="utf-8"?>
<p:tagLst xmlns:p="http://schemas.openxmlformats.org/presentationml/2006/main">
  <p:tag name="KSO_WM_DIAGRAM_VIRTUALLY_FRAME" val="{&quot;height&quot;:169.7,&quot;left&quot;:172.45,&quot;top&quot;:216.05,&quot;width&quot;:703.95}"/>
</p:tagLst>
</file>

<file path=ppt/tags/tag9.xml><?xml version="1.0" encoding="utf-8"?>
<p:tagLst xmlns:p="http://schemas.openxmlformats.org/presentationml/2006/main">
  <p:tag name="KSO_WM_DIAGRAM_VIRTUALLY_FRAME" val="{&quot;height&quot;:169.7,&quot;left&quot;:172.45,&quot;top&quot;:216.05,&quot;width&quot;:703.95}"/>
</p:tagLst>
</file>

<file path=ppt/tags/tag10.xml><?xml version="1.0" encoding="utf-8"?>
<p:tagLst xmlns:p="http://schemas.openxmlformats.org/presentationml/2006/main">
  <p:tag name="KSO_WM_DIAGRAM_VIRTUALLY_FRAME" val="{&quot;height&quot;:169.7,&quot;left&quot;:172.45,&quot;top&quot;:216.05,&quot;width&quot;:703.95}"/>
</p:tagLst>
</file>

<file path=ppt/tags/tag11.xml><?xml version="1.0" encoding="utf-8"?>
<p:tagLst xmlns:p="http://schemas.openxmlformats.org/presentationml/2006/main">
  <p:tag name="KSO_WM_DIAGRAM_VIRTUALLY_FRAME" val="{&quot;height&quot;:169.7,&quot;left&quot;:172.45,&quot;top&quot;:216.05,&quot;width&quot;:703.95}"/>
</p:tagLst>
</file>

<file path=ppt/tags/tag12.xml><?xml version="1.0" encoding="utf-8"?>
<p:tagLst xmlns:p="http://schemas.openxmlformats.org/presentationml/2006/main">
  <p:tag name="KSO_WM_DIAGRAM_VIRTUALLY_FRAME" val="{&quot;height&quot;:169.7,&quot;left&quot;:172.45,&quot;top&quot;:216.05,&quot;width&quot;:703.95}"/>
</p:tagLst>
</file>

<file path=ppt/tags/tag13.xml><?xml version="1.0" encoding="utf-8"?>
<p:tagLst xmlns:p="http://schemas.openxmlformats.org/presentationml/2006/main">
  <p:tag name="KSO_WM_DIAGRAM_VIRTUALLY_FRAME" val="{&quot;height&quot;:169.7,&quot;left&quot;:172.45,&quot;top&quot;:216.05,&quot;width&quot;:703.95}"/>
</p:tagLst>
</file>

<file path=ppt/tags/tag14.xml><?xml version="1.0" encoding="utf-8"?>
<p:tagLst xmlns:p="http://schemas.openxmlformats.org/presentationml/2006/main">
  <p:tag name="KSO_WM_DIAGRAM_VIRTUALLY_FRAME" val="{&quot;height&quot;:169.7,&quot;left&quot;:172.45,&quot;top&quot;:216.05,&quot;width&quot;:703.95}"/>
</p:tagLst>
</file>

<file path=ppt/tags/tag15.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6.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7.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8.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19.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0.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1.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2.xml><?xml version="1.0" encoding="utf-8"?>
<p:tagLst xmlns:p="http://schemas.openxmlformats.org/presentationml/2006/main">
  <p:tag name="TABLE_ENDDRAG_ORIGIN_RECT" val="548*240"/>
  <p:tag name="TABLE_ENDDRAG_RECT" val="63*225*548*240"/>
</p:tagLst>
</file>

<file path=ppt/tags/tag23.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4.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5.xml><?xml version="1.0" encoding="utf-8"?>
<p:tagLst xmlns:p="http://schemas.openxmlformats.org/presentationml/2006/main">
  <p:tag name="TABLE_ENDDRAG_ORIGIN_RECT" val="377*169"/>
  <p:tag name="TABLE_ENDDRAG_RECT" val="43*138*377*169"/>
</p:tagLst>
</file>

<file path=ppt/tags/tag26.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7.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8.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29.xml><?xml version="1.0" encoding="utf-8"?>
<p:tagLst xmlns:p="http://schemas.openxmlformats.org/presentationml/2006/main">
  <p:tag name="TABLE_ENDDRAG_ORIGIN_RECT" val="340*162"/>
  <p:tag name="TABLE_ENDDRAG_RECT" val="76*231*340*162"/>
</p:tagLst>
</file>

<file path=ppt/tags/tag30.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31.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32.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33.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34.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35.xml><?xml version="1.0" encoding="utf-8"?>
<p:tagLst xmlns:p="http://schemas.openxmlformats.org/presentationml/2006/main">
  <p:tag name="TABLE_ENDDRAG_ORIGIN_RECT" val="815*138"/>
  <p:tag name="TABLE_ENDDRAG_RECT" val="81*155*815*138"/>
</p:tagLst>
</file>

<file path=ppt/tags/tag36.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37.xml><?xml version="1.0" encoding="utf-8"?>
<p:tagLst xmlns:p="http://schemas.openxmlformats.org/presentationml/2006/main">
  <p:tag name="TABLE_ENDDRAG_ORIGIN_RECT" val="815*138"/>
  <p:tag name="TABLE_ENDDRAG_RECT" val="81*155*815*138"/>
</p:tagLst>
</file>

<file path=ppt/tags/tag38.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39.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40.xml><?xml version="1.0" encoding="utf-8"?>
<p:tagLst xmlns:p="http://schemas.openxmlformats.org/presentationml/2006/main">
  <p:tag name="KSO_DOCER_TEMPLATE_OPEN_ONCE_MARK" val="1"/>
  <p:tag name="COMMONDATA" val="eyJoZGlkIjoiMzU2NDgwNDU3MWM0NTY2NDhiZjM1YjVjY2QzYzVkZDAifQ=="/>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HarmonyOS Sans SC Medium"/>
        <a:ea typeface="HarmonyOS Sans SC Medium"/>
        <a:cs typeface=""/>
      </a:majorFont>
      <a:minorFont>
        <a:latin typeface="HarmonyOS Sans SC Medium"/>
        <a:ea typeface="HarmonyOS Sans SC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HarmonyOS Sans SC Medium"/>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armonyOS Sans SC Medium"/>
        <a:ea typeface=""/>
        <a:cs typeface=""/>
        <a:font script="Jpan" typeface="ＭＳ Ｐゴシック"/>
        <a:font script="Hang" typeface="맑은 고딕"/>
        <a:font script="Hans" typeface="HarmonyOS Sans SC Medium"/>
        <a:font script="Hant" typeface="新細明體"/>
        <a:font script="Arab" typeface="HarmonyOS Sans SC Medium"/>
        <a:font script="Hebr" typeface="HarmonyOS Sans SC 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HarmonyOS Sans SC Medium"/>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HarmonyOS Sans SC Medium"/>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armonyOS Sans SC Medium"/>
        <a:ea typeface=""/>
        <a:cs typeface=""/>
        <a:font script="Jpan" typeface="ＭＳ Ｐゴシック"/>
        <a:font script="Hang" typeface="맑은 고딕"/>
        <a:font script="Hans" typeface="HarmonyOS Sans SC Medium"/>
        <a:font script="Hant" typeface="新細明體"/>
        <a:font script="Arab" typeface="HarmonyOS Sans SC Medium"/>
        <a:font script="Hebr" typeface="HarmonyOS Sans SC 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HarmonyOS Sans SC Medium"/>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12672</Words>
  <Application>WPS 演示</Application>
  <PresentationFormat>宽屏</PresentationFormat>
  <Paragraphs>438</Paragraphs>
  <Slides>21</Slides>
  <Notes>4</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21</vt:i4>
      </vt:variant>
    </vt:vector>
  </HeadingPairs>
  <TitlesOfParts>
    <vt:vector size="38" baseType="lpstr">
      <vt:lpstr>Arial</vt:lpstr>
      <vt:lpstr>宋体</vt:lpstr>
      <vt:lpstr>Wingdings</vt:lpstr>
      <vt:lpstr>Wingdings</vt:lpstr>
      <vt:lpstr>HarmonyOS Sans SC Medium</vt:lpstr>
      <vt:lpstr>苹方-简</vt:lpstr>
      <vt:lpstr>思源宋体 CN Heavy</vt:lpstr>
      <vt:lpstr>汉仪书宋二KW</vt:lpstr>
      <vt:lpstr>微软雅黑</vt:lpstr>
      <vt:lpstr>汉仪旗黑</vt:lpstr>
      <vt:lpstr>宋体</vt:lpstr>
      <vt:lpstr>Arial Unicode MS</vt:lpstr>
      <vt:lpstr>Menlo</vt:lpstr>
      <vt:lpstr>Menlo</vt:lpstr>
      <vt:lpstr>HarmonyOS Sans SC Medium</vt:lpstr>
      <vt:lpstr>思源宋体 CN Heavy</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璀璨俗世</cp:lastModifiedBy>
  <cp:revision>218</cp:revision>
  <dcterms:created xsi:type="dcterms:W3CDTF">2026-05-30T12:54:33Z</dcterms:created>
  <dcterms:modified xsi:type="dcterms:W3CDTF">2026-05-30T12:54:33Z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3BC613E55734CDDFF77C1A6A2FCB3561_41</vt:lpwstr>
  </property>
  <property fmtid="{D5CDD505-2E9C-101B-9397-08002B2CF9AE}" pid="4" name="KSOTemplateUUID">
    <vt:lpwstr>v1.0_mb_KFnCGz5+9Qd+IjiyT4rASA==</vt:lpwstr>
  </property>
</Properties>
</file>